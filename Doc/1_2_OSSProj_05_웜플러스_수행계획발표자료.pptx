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Noto Sans Bold" charset="1" panose="020B0802040504020204"/>
      <p:regular r:id="rId29"/>
    </p:embeddedFont>
    <p:embeddedFont>
      <p:font typeface="Borsok" charset="1" panose="02000503000000020002"/>
      <p:regular r:id="rId30"/>
    </p:embeddedFont>
    <p:embeddedFont>
      <p:font typeface="Jua" charset="1" panose="00000000000000000000"/>
      <p:regular r:id="rId31"/>
    </p:embeddedFont>
    <p:embeddedFont>
      <p:font typeface="Noto Sans" charset="1" panose="020B0502040504020204"/>
      <p:regular r:id="rId35"/>
    </p:embeddedFont>
    <p:embeddedFont>
      <p:font typeface="Arimo Bold" charset="1" panose="020B0704020202020204"/>
      <p:regular r:id="rId43"/>
    </p:embeddedFont>
    <p:embeddedFont>
      <p:font typeface="Arimo" charset="1" panose="020B0604020202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오프닝. 페르소나 한지우(27세)의 일상 대화로 시작. “괜찮냐”는 질문에 넘기는 말투가 곧 우리 타깃의 모습이라는 점을 짧게 말하고 바로 데이터로 넘어간다. (가상 시나리오)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오프닝. 페르소나 한지우(27세)의 일상 대화로 시작. “괜찮냐”는 질문에 넘기는 말투가 곧 우리 타깃의 모습이라는 점을 짧게 말하고 바로 데이터로 넘어간다. (가상 시나리오)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발표의 핵심 페이지. 도움 체계(온기 손편지, 상담 앱, 전문 지원)는 이미 있다. 비어 있는 곳은 ‘도움을 요청하기 전의 마음’. On Letter는 그 구간에 놓이는 첫 번째 그물망.</a:t>
            </a:r>
          </a:p>
          <a:p>
            <a:r>
              <a:rPr lang="en-US"/>
              <a:t>표현 주의: “고위험군으로 가기 전에 막는다”보다 “위기가 된 뒤 발견하는 것이 아니라, 아직 일상을 살아가는 순간에 먼저 닿는 서비스”.</a:t>
            </a:r>
          </a:p>
          <a:p>
            <a:r>
              <a:rPr lang="en-US"/>
              <a:t>오른쪽 ‘기존의 도움’은 경쟁 서비스 비교(기존 11장)를 압축한 것. 기존 서비스는 도움을 찾기로 마음먹은 뒤에 작동한다.</a:t>
            </a:r>
          </a:p>
          <a:p>
            <a:r>
              <a:rPr lang="en-US"/>
              <a:t/>
            </a:r>
          </a:p>
          <a:p>
            <a:r>
              <a:rPr lang="en-US"/>
              <a:t>비교 축은 기능이 있고 없고가 아니라, 마음이 힘든 사람에게 최종적으로 어떤 행동을 요구하는가. 기존 서비스는 앱 안에서 마음을 관리하거나 상담받는 것을 목표로 하지만, 우리는 앱을 종착점으로 두지 않는다. 최종 목적지는 실제 사람에게 보내는 손편지.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발표의 핵심 페이지. 도움 체계(온기 손편지, 상담 앱, 전문 지원)는 이미 있다. 비어 있는 곳은 ‘도움을 요청하기 전의 마음’. On Letter는 그 구간에 놓이는 첫 번째 그물망.</a:t>
            </a:r>
          </a:p>
          <a:p>
            <a:r>
              <a:rPr lang="en-US"/>
              <a:t>표현 주의: “고위험군으로 가기 전에 막는다”보다 “위기가 된 뒤 발견하는 것이 아니라, 아직 일상을 살아가는 순간에 먼저 닿는 서비스”.</a:t>
            </a:r>
          </a:p>
          <a:p>
            <a:r>
              <a:rPr lang="en-US"/>
              <a:t>오른쪽 ‘기존의 도움’은 경쟁 서비스 비교(기존 11장)를 압축한 것. 기존 서비스는 도움을 찾기로 마음먹은 뒤에 작동한다.</a:t>
            </a:r>
          </a:p>
          <a:p>
            <a:r>
              <a:rPr lang="en-US"/>
              <a:t/>
            </a:r>
          </a:p>
          <a:p>
            <a:r>
              <a:rPr lang="en-US"/>
              <a:t>비교 축은 기능이 있고 없고가 아니라, 마음이 힘든 사람에게 최종적으로 어떤 행동을 요구하는가. 기존 서비스는 앱 안에서 마음을 관리하거나 상담받는 것을 목표로 하지만, 우리는 앱을 종착점으로 두지 않는다. 최종 목적지는 실제 사람에게 보내는 손편지.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개요. 3분 마음 질문 → 닮은 실제 편지 → 오목이와 일상 돌봄 → 준비되면 온기로.</a:t>
            </a:r>
          </a:p>
          <a:p>
            <a:r>
              <a:rPr lang="en-US"/>
              <a:t>최종 목표는 앱 체류가 아니라 실제 손편지를 보내는 행동이라고 여기서 한 번 말하고, 구체적인 KPI 수치는 17쪽에서 보여 준다.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요구사항분석: 타깃이 도움 앞에서 멈추는 이유를 그대로 요구사항으로 바꾸고, 요구사항마다 구현한 기능을 하나씩 연결했다.</a:t>
            </a:r>
          </a:p>
          <a:p>
            <a:r>
              <a:rPr lang="en-US"/>
              <a:t>① 글로 쓰기 부담 → 쓰지 않고 고르기만 하는 마음 질문 6문항(그림·날씨·배터리로 고름).</a:t>
            </a:r>
          </a:p>
          <a:p>
            <a:r>
              <a:rPr lang="en-US"/>
              <a:t>② 답장까지 3~4주 → 고른 고민(8개 주제)과 닮은 실제 온기레터가 바로 도착.</a:t>
            </a:r>
          </a:p>
          <a:p>
            <a:r>
              <a:rPr lang="en-US"/>
              <a:t>③ 다시 올 이유 없음 → 1일 1미션(40개), 오늘의 질문, 오목이 5단계 성장.</a:t>
            </a:r>
          </a:p>
          <a:p>
            <a:r>
              <a:rPr lang="en-US"/>
              <a:t>④ 위기 순간의 고립 → 서버가 AI를 부르기 전에 위기 표현을 감지해 109·1577-0199·1388 안내. 시작 질문 답이 무거우면 편지와 도움 기관을 함께 안내(라벨은 보여주지 않음).</a:t>
            </a:r>
          </a:p>
          <a:p>
            <a:r>
              <a:rPr lang="en-US"/>
              <a:t>마지막 요구사항은 출구: 대화 3번째 메시지에 '손편지로 답장받기' 카드를 한 번만 보여주고 온기우편함 온라인 고민편지로 연결. 심리테스트 3종(공개 척도)은 '진단이 아닌 자기 이해' 요구에 대응.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사이트 구조(시스템 설계): 처음 방문하면 카카오 로그인, 오목이 이름 짓기, '먼저 도착한 편지'(마음 질문 6문항, 닮은 온기레터, 가방에 담기)를 지나 하단 5탭으로 들어온다.</a:t>
            </a:r>
          </a:p>
          <a:p>
            <a:r>
              <a:rPr lang="en-US"/>
              <a:t>5탭: 미션(오늘의 미션, 완료 메모, 월간 캘린더, 성장 연출) / 심리테스트(공개 척도 3종, 결과 저장·공유) / 홈(가운데 기본 탭, 오늘의 질문 → 오목이와 대화) / 온기레터(10개 분류, 164편 → 편지 원문) / 나의 온기(성장 앨범, 마음 기록, 테스트 결과, 가방 속 편지, 도움 기관, 설정).</a:t>
            </a:r>
          </a:p>
          <a:p>
            <a:r>
              <a:rPr lang="en-US"/>
              <a:t>바깥 연결: 온기우편함 온라인 고민편지, 온기레터 구독(스티비), 24시간 도움 기관(109·1577-0199·1388).</a:t>
            </a:r>
          </a:p>
          <a:p>
            <a:r>
              <a:rPr lang="en-US"/>
              <a:t>지금 카카오 로그인은 화면만 있고, Supabase로 연동할 예정이라고 말하기.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전체 시스템 설계: 지금 v1은 휴대폰 브라우저(PWA) 안에서 완결된다. 화면은 Next.js 16, 기록은 저장 어댑터를 통해 기기(localStorage)에 저장하고, 서비스 워커로 오프라인에서도 열린다.</a:t>
            </a:r>
          </a:p>
          <a:p>
            <a:r>
              <a:rPr lang="en-US"/>
              <a:t>서버는 Next.js 안의 /api/chat 하나: ① 요청 검증(256KB, 메시지 40개, 1,000자) ② 위기 표현 감지: 걸리면 AI를 부르지 않고 109·1577-0199·1388 안내 ③ AI 연결부: 지금은 목업 답장, Claude API는 같은 인터페이스로 추가 예정 ④ 답장 스트리밍(30초 제한).</a:t>
            </a:r>
          </a:p>
          <a:p>
            <a:r>
              <a:rPr lang="en-US"/>
              <a:t>바깥 연결: 스티비 공개 API에서 온기레터 164편을 동기화 스크립트로 받아 앱에 포함, 온기우편함은 온라인 고민편지 페이지로 링크 연결(API 연동 아님).</a:t>
            </a:r>
          </a:p>
          <a:p>
            <a:r>
              <a:rPr lang="en-US"/>
              <a:t>예정: Supabase 카카오 로그인, Supabase DB(저장 어댑터만 교체), Claude API. 갈아 끼우는 구조라 화면 코드는 거의 그대로 둔다.</a:t>
            </a:r>
          </a:p>
          <a:p>
            <a:r>
              <a:rPr lang="en-US"/>
              <a:t>운영·안전: 문제가 생기면 환경변수 하나(LLM_PROVIDER)로 AI를 목업으로 되돌릴 수 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구현계획: 기술 스택은 Next.js 16(App Router), React 19, TypeScript, Tailwind CSS v4. 서버는 Next.js Route Handler(/api/chat) 하나, 테스트는 Vitest 자동 테스트 290여 개, PWA(매니페스트·서비스 워커), 배포는 Vercel.</a:t>
            </a:r>
          </a:p>
          <a:p>
            <a:r>
              <a:rPr lang="en-US"/>
              <a:t>1단계(완료): 시작 화면(먼저 도착한 편지), 5탭, 미션·성장, 심리테스트 3종, 온기레터 164편, 위기 감지, 시연 모드.</a:t>
            </a:r>
          </a:p>
          <a:p>
            <a:r>
              <a:rPr lang="en-US"/>
              <a:t>2단계: AI 대화. 지금은 목업 답장이고, 같은 인터페이스에 Claude 구현체만 추가하면 된다. 오목이 말투 프롬프트는 작성 완료.</a:t>
            </a:r>
          </a:p>
          <a:p>
            <a:r>
              <a:rPr lang="en-US"/>
              <a:t>3단계: 계정·기록. Supabase 카카오 로그인 + 저장 어댑터를 기기 저장에서 DB로 교체해 기기가 바뀌어도 기록 유지.</a:t>
            </a:r>
          </a:p>
          <a:p>
            <a:r>
              <a:rPr lang="en-US"/>
              <a:t>4단계: Vercel 배포 + KPI 이벤트 기록(시작 화면 진입, 질문 완료, 편지 열람, 가방 담기, 고민편지 클릭), 온기 시연·피드백 후 파일럿.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[발표 대본, 약 40초]</a:t>
            </a:r>
          </a:p>
          <a:p>
            <a:r>
              <a:rPr lang="en-US"/>
              <a:t>오목이, 미션, 심리테스트는 그냥 만든 게 아니라 근거를 보고 설계했습니다.</a:t>
            </a:r>
          </a:p>
          <a:p>
            <a:r>
              <a:rPr lang="en-US"/>
              <a:t>먼저 오목이는 커플 앱 썸원에서 힌트를 얻었어요. 매일 질문에 답하면 캐릭터가 같이 자라는 방식인데, 이게 매일 다시 들어올 이유가 되거든요. 그래서 미션을 할수록 오목이가 다섯 단계로 자라게 했습니다.</a:t>
            </a:r>
          </a:p>
          <a:p>
            <a:r>
              <a:rPr lang="en-US"/>
              <a:t>그런데 정신건강 앱은 설치하고 2주 안에 대부분 그만둔다는 연구가 있어서, 처음 미션 3개, 7개만 해도 오목이가 바로 자라게 했습니다.</a:t>
            </a:r>
          </a:p>
          <a:p>
            <a:r>
              <a:rPr lang="en-US"/>
              <a:t>심리테스트는 누구나 쓸 수 있게 공개된 검증 척도 세 가지를 골라, 한국어판으로 옮겨 넣을 예정입니다.</a:t>
            </a:r>
          </a:p>
          <a:p>
            <a:r>
              <a:rPr lang="en-US"/>
              <a:t>다만 캐릭터를 키우는 것 자체가 치료 효과를 높이지는 않는다는 연구도 있어서, 오목이는 치료 도구가 아니라 다시 찾아오게 하는 장치로만 보고, 재방문과 온기우편함 연결로 검증하려고 합니다.</a:t>
            </a:r>
          </a:p>
          <a:p>
            <a:r>
              <a:rPr lang="en-US"/>
              <a:t/>
            </a:r>
          </a:p>
          <a:p>
            <a:r>
              <a:rPr lang="en-US"/>
              <a:t>[질문 대비 메모]</a:t>
            </a:r>
          </a:p>
          <a:p>
            <a:r>
              <a:rPr lang="en-US"/>
              <a:t>① 썸원(SumOne): 연인이 매일 질문 1개에 답하면 캐릭터(에그몬)가 자라는 커플 앱. 오목이 5단계(알, 아기새, 편지 오목이, 우체부 오목이, 온기 오목이 / 누적 미션 3·7·15·30개)에 반영.</a:t>
            </a:r>
          </a:p>
          <a:p>
            <a:r>
              <a:rPr lang="en-US"/>
              <a:t>② Baumel et al. (2019, JMIR): 정신건강 앱 실제 사용 데이터 분석, 15일 유지율 중앙값 3.9%. 초반(미션 3·7개) 성장 보상과 KPI D7 재방문 목표 15%의 근거.</a:t>
            </a:r>
          </a:p>
          <a:p>
            <a:r>
              <a:rPr lang="en-US"/>
              <a:t>③ '왜 최종 단계가 미션 30개냐'는 질문이 나오면: Deady et al. (2022, Psychological Medicine), 30일 행동활성화 앱을 쓴 비임상 직장인 무작위대조시험, 12개월 우울 발생 3.5% 대 8.0%. 단, '30일이면 습관이 완성된다'고 말하지 않기(습관 형성 중앙값 59~66일, Singh et al., 2024).</a:t>
            </a:r>
          </a:p>
          <a:p>
            <a:r>
              <a:rPr lang="en-US"/>
              <a:t>④ 척도 라이선스: Brief COPE(원작자가 자유 사용 허용), WHO-5(CC BY-NC-SA 3.0 IGO), 로젠버그 자존감 척도(연구·교육 목적 자유 사용 허용). 구현 시 검증된 한국어판 문항 사용.</a:t>
            </a:r>
          </a:p>
          <a:p>
            <a:r>
              <a:rPr lang="en-US"/>
              <a:t>⑤ Six et al. (2021): 우울 대상 정신건강 앱 38개 연구 메타분석, 게임화 요소 자체의 추가 효과는 유의하지 않음. 그래서 성장은 치료 효과가 아니라 재방문율과 온기우편함 전환율로 검증.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선행 서비스 조사(평가표 '선행기술조사' 항목). 온기우편함, 마인드카페, 트로스트, 썸원의 공식 홈페이지·앱 마켓 소개(2026.10)를 보고 기능을 비교했다.</a:t>
            </a:r>
          </a:p>
          <a:p>
            <a:r>
              <a:rPr lang="en-US"/>
              <a:t>각 서비스는 일부 기능만 가진다: 온기우편함은 사람의 손편지(대신 고민을 직접 써야 하고 답장까지 3~4주), 마인드카페·트로스트는 심리검사·챗봇·유료 상담, 썸원은 연인이 매일 질문에 답하며 캐릭터(에그몬)를 함께 키우는 커플 앱.</a:t>
            </a:r>
          </a:p>
          <a:p>
            <a:r>
              <a:rPr lang="en-US"/>
              <a:t>먼저 도착한 편지는 쓰지 않고 고르는 마음 질문, 바로 도착하는 실제 손편지, 오목이 성장, 1일 1미션, AI 대화를 한곳에 모으고, 마지막을 실제 손편지(온기우편함)로 잇는다. AI 대화는 v1에서 목업이고 Claude 연동 예정.</a:t>
            </a:r>
          </a:p>
          <a:p>
            <a:r>
              <a:rPr lang="en-US"/>
              <a:t>전문 상담·진단은 일부러 하지 않는다. 필요하면 109 등 전문기관으로 연결.</a:t>
            </a:r>
          </a:p>
          <a:p>
            <a:r>
              <a:rPr lang="en-US"/>
              <a:t>다음 장 RESEARCH에서 이 설계를 뒷받침하는 연구 근거로 넘어간다.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평가표의 '최종 목표를 구체적이고 명확하게 설명했는가' 항목에 대응. 청년 마음건강 증진 같은 추상적 목표 대신 측정 가능한 행동으로 정의했다. 체류 시간보다 실제 온기 행동 전환율이 핵심 KPI.</a:t>
            </a:r>
          </a:p>
          <a:p>
            <a:r>
              <a:rPr lang="en-US"/>
              <a:t>목표는 첫 파일럿 기준: 질문 완료율 60%, 편지 열람률 50%, D7 재방문율 15%, '고민편지 보내기' 클릭률 5%. 정신건강 앱의 15일 유지율 중앙값이 3.9%라는 분석(Baumel et al., 2019)을 참고해 재방문 목표를 보수적으로 잡았다. 측정은 배포 후 익명 이벤트 기록(예정).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발표에 쓴 수치의 출처. 2쪽: 국립정신건강센터 2024 결과보고서(30대 79.9%, 30대 여성 87.3%). 4쪽 35,000통: 조선일보 2026.06 온기 인터뷰(2025년 답장 약 3만 5천 통, 누적 7만 2,485통, 우편함 116곳). 5쪽 인스타 80.9%: 언론진흥재단 2024 소셜미디어 이용자 조사. 17쪽 KPI: Baumel 2019(15일 유지율 중앙값 3.9%).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1 (질의응답용). 사용자가 할 수 있는 일(마음 질문, 닮은 편지 받기·가방에 담기, 오목이와 대화, 미션, 심리테스트, 온기우편함 이동)과 위기 표현이 감지됐을 때의 도움 기관 안내를 한 장에 정리했다. 기능 범위를 물으면 이 장으로 답한다. 원본은 수행계획서 그림 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2 (질의응답용). 대화 한 번의 처리 순서: 메시지 입력(1,000자 이내) → 기기 저장 → /api/chat에 질문과 최근 20개 전송(30초 제한) → ① 크기·형식 검증 → ② 마지막 사용자 메시지 위기 표현 검사. 위기 표현이 있으면 AI를 부르지 않고 위로 문구와 도움 기관 카드를 보낸다. 없으면 ③ 오목이 페르소나로 답장 스트리밍(지금은 목업, Claude 예정) → ④ 기기에 저장. 내 메시지 3개째에 손편지 연결 카드를 한 번 보여 준다.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3 (질의응답용). 서비스 전체 흐름을 한 장의 플로 차트로 정리했다. 첫 방문 여부에 따라 먼저 도착한 편지(마음 질문 → 닮은 편지 → 가방에 담기)로 가거나 바로 홈으로 간다. 대화에서는 위기 표현이 감지되면 도움 기관 안내로 분기하고, 준비가 되면 온기우편함 온라인 고민편지로 연결한다. 원본은 수행계획서 그림 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부록 4 (질의응답용). 추진 일정 간트차트(수행계획서 그림 7). 역할 분담: 조수아 기획·디자인·온기 소통, 전동현 프론트엔드·서버 구현, 박현준 리서치·안전 검증·데이터 분석(KPI)·QA. 세부 담당은 수행계획서 2.5 표와 같다.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40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40.png" Type="http://schemas.openxmlformats.org/officeDocument/2006/relationships/image"/><Relationship Id="rId6" Target="../media/image42.png" Type="http://schemas.openxmlformats.org/officeDocument/2006/relationships/image"/><Relationship Id="rId7" Target="../media/image44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2.jpe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6.png" Type="http://schemas.openxmlformats.org/officeDocument/2006/relationships/image"/><Relationship Id="rId4" Target="../media/image2.jpeg" Type="http://schemas.openxmlformats.org/officeDocument/2006/relationships/image"/><Relationship Id="rId5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3020" y="754380"/>
            <a:ext cx="10972800" cy="411480"/>
            <a:chOff x="0" y="0"/>
            <a:chExt cx="146304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A744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</a:t>
              </a:r>
              <a:r>
                <a:rPr lang="en-US" sz="1800" b="true">
                  <a:solidFill>
                    <a:srgbClr val="9A744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Warm+ ·  카카오 테크포임팩트 × 사단법인 온기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19122" y="572833"/>
            <a:ext cx="15508208" cy="5200650"/>
            <a:chOff x="0" y="0"/>
            <a:chExt cx="20677610" cy="693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77611" cy="6934200"/>
            </a:xfrm>
            <a:custGeom>
              <a:avLst/>
              <a:gdLst/>
              <a:ahLst/>
              <a:cxnLst/>
              <a:rect r="r" b="b" t="t" l="l"/>
              <a:pathLst>
                <a:path h="6934200" w="20677611">
                  <a:moveTo>
                    <a:pt x="0" y="0"/>
                  </a:moveTo>
                  <a:lnTo>
                    <a:pt x="20677611" y="0"/>
                  </a:lnTo>
                  <a:lnTo>
                    <a:pt x="20677611" y="6934200"/>
                  </a:lnTo>
                  <a:lnTo>
                    <a:pt x="0" y="693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20400" b="286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677610" cy="696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>
                  <a:solidFill>
                    <a:srgbClr val="FFF9EA"/>
                  </a:solidFill>
                  <a:latin typeface="Borsok"/>
                  <a:ea typeface="Borsok"/>
                  <a:cs typeface="Borsok"/>
                  <a:sym typeface="Borsok"/>
                </a:rPr>
                <a:t>On</a:t>
              </a:r>
              <a:r>
                <a:rPr lang="en-US" sz="1950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C83A">
                          <a:alpha val="100000"/>
                        </a:srgbClr>
                      </a:gs>
                    </a:gsLst>
                    <a:lin ang="0"/>
                  </a:gradFill>
                  <a:latin typeface="Borsok"/>
                  <a:ea typeface="Borsok"/>
                  <a:cs typeface="Borsok"/>
                  <a:sym typeface="Borsok"/>
                </a:rPr>
                <a:t> </a:t>
              </a:r>
              <a:r>
                <a:rPr lang="en-US" sz="19500">
                  <a:solidFill>
                    <a:srgbClr val="F5C83A"/>
                  </a:solidFill>
                  <a:latin typeface="Borsok"/>
                  <a:ea typeface="Borsok"/>
                  <a:cs typeface="Borsok"/>
                  <a:sym typeface="Borsok"/>
                </a:rPr>
                <a:t>Letter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3020" y="4098849"/>
            <a:ext cx="8288419" cy="822960"/>
            <a:chOff x="0" y="0"/>
            <a:chExt cx="11051225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51225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51225">
                  <a:moveTo>
                    <a:pt x="0" y="0"/>
                  </a:moveTo>
                  <a:lnTo>
                    <a:pt x="11051225" y="0"/>
                  </a:lnTo>
                  <a:lnTo>
                    <a:pt x="1105122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-32387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1051225" cy="1202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꺼내지 못한</a:t>
              </a:r>
              <a:r>
                <a:rPr lang="en-US" sz="420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마음에, 편지가 먼저 닿습니다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812421" y="4183380"/>
            <a:ext cx="3968171" cy="8098308"/>
          </a:xfrm>
          <a:custGeom>
            <a:avLst/>
            <a:gdLst/>
            <a:ahLst/>
            <a:cxnLst/>
            <a:rect r="r" b="b" t="t" l="l"/>
            <a:pathLst>
              <a:path h="8098308" w="3968171">
                <a:moveTo>
                  <a:pt x="0" y="0"/>
                </a:moveTo>
                <a:lnTo>
                  <a:pt x="3968170" y="0"/>
                </a:lnTo>
                <a:lnTo>
                  <a:pt x="3968170" y="8098308"/>
                </a:lnTo>
                <a:lnTo>
                  <a:pt x="0" y="8098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60026" y="4921809"/>
            <a:ext cx="3606341" cy="7359879"/>
          </a:xfrm>
          <a:custGeom>
            <a:avLst/>
            <a:gdLst/>
            <a:ahLst/>
            <a:cxnLst/>
            <a:rect r="r" b="b" t="t" l="l"/>
            <a:pathLst>
              <a:path h="7359879" w="3606341">
                <a:moveTo>
                  <a:pt x="0" y="0"/>
                </a:moveTo>
                <a:lnTo>
                  <a:pt x="3606341" y="0"/>
                </a:lnTo>
                <a:lnTo>
                  <a:pt x="3606341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97280" y="1108710"/>
            <a:ext cx="16092983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1"/>
              </a:lnSpc>
            </a:pPr>
            <a:r>
              <a:rPr lang="en-US" sz="4800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“요즘 괜찮아?”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1600" y="2057400"/>
            <a:ext cx="15544343" cy="548640"/>
            <a:chOff x="0" y="0"/>
            <a:chExt cx="2072579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5791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59" r="0" b="-5020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072579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그 물음에, 우리는 늘 이렇게 답합니다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00622" y="3488055"/>
            <a:ext cx="4418263" cy="1006602"/>
            <a:chOff x="0" y="0"/>
            <a:chExt cx="5891017" cy="1342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91018" cy="1342136"/>
            </a:xfrm>
            <a:custGeom>
              <a:avLst/>
              <a:gdLst/>
              <a:ahLst/>
              <a:cxnLst/>
              <a:rect r="r" b="b" t="t" l="l"/>
              <a:pathLst>
                <a:path h="1342136" w="5891018">
                  <a:moveTo>
                    <a:pt x="0" y="671068"/>
                  </a:moveTo>
                  <a:cubicBezTo>
                    <a:pt x="0" y="300482"/>
                    <a:pt x="267835" y="0"/>
                    <a:pt x="598158" y="0"/>
                  </a:cubicBezTo>
                  <a:lnTo>
                    <a:pt x="5292859" y="0"/>
                  </a:lnTo>
                  <a:cubicBezTo>
                    <a:pt x="5623182" y="0"/>
                    <a:pt x="5891018" y="300482"/>
                    <a:pt x="5891018" y="671068"/>
                  </a:cubicBezTo>
                  <a:cubicBezTo>
                    <a:pt x="5891018" y="1041654"/>
                    <a:pt x="5623182" y="1342136"/>
                    <a:pt x="5292859" y="1342136"/>
                  </a:cubicBezTo>
                  <a:lnTo>
                    <a:pt x="598158" y="1342136"/>
                  </a:lnTo>
                  <a:cubicBezTo>
                    <a:pt x="267835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00622" y="3497580"/>
            <a:ext cx="4408738" cy="987552"/>
            <a:chOff x="0" y="0"/>
            <a:chExt cx="5878317" cy="1316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78318" cy="1316736"/>
            </a:xfrm>
            <a:custGeom>
              <a:avLst/>
              <a:gdLst/>
              <a:ahLst/>
              <a:cxnLst/>
              <a:rect r="r" b="b" t="t" l="l"/>
              <a:pathLst>
                <a:path h="1316736" w="5878318">
                  <a:moveTo>
                    <a:pt x="0" y="0"/>
                  </a:moveTo>
                  <a:lnTo>
                    <a:pt x="5878318" y="0"/>
                  </a:lnTo>
                  <a:lnTo>
                    <a:pt x="587831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-11999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878317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요즘 많이 지쳐 보여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85035" y="5133975"/>
            <a:ext cx="3996690" cy="1006602"/>
            <a:chOff x="0" y="0"/>
            <a:chExt cx="5328920" cy="1342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289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5328920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4657852" y="0"/>
                  </a:lnTo>
                  <a:cubicBezTo>
                    <a:pt x="5028438" y="0"/>
                    <a:pt x="5328920" y="300482"/>
                    <a:pt x="5328920" y="671068"/>
                  </a:cubicBezTo>
                  <a:cubicBezTo>
                    <a:pt x="5328920" y="1041654"/>
                    <a:pt x="5028438" y="1342136"/>
                    <a:pt x="465785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94560" y="5143500"/>
            <a:ext cx="3977640" cy="987552"/>
            <a:chOff x="0" y="0"/>
            <a:chExt cx="5303520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30352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진짜 괜찮은 거 맞아?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975" y="3213735"/>
            <a:ext cx="4956810" cy="1006602"/>
            <a:chOff x="0" y="0"/>
            <a:chExt cx="6609080" cy="13421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90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6609080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5938012" y="0"/>
                  </a:lnTo>
                  <a:cubicBezTo>
                    <a:pt x="6308598" y="0"/>
                    <a:pt x="6609080" y="300482"/>
                    <a:pt x="6609080" y="671068"/>
                  </a:cubicBezTo>
                  <a:cubicBezTo>
                    <a:pt x="6609080" y="1041654"/>
                    <a:pt x="6308598" y="1342136"/>
                    <a:pt x="593801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01500" y="3223260"/>
            <a:ext cx="4937760" cy="987552"/>
            <a:chOff x="0" y="0"/>
            <a:chExt cx="6583680" cy="13167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5836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 정도는 다들 그렇지 뭐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66295" y="4722495"/>
            <a:ext cx="4819650" cy="1006602"/>
            <a:chOff x="0" y="0"/>
            <a:chExt cx="6426200" cy="1342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62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6426200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lnTo>
                    <a:pt x="5755132" y="0"/>
                  </a:lnTo>
                  <a:cubicBezTo>
                    <a:pt x="6125718" y="0"/>
                    <a:pt x="6426200" y="300482"/>
                    <a:pt x="6426200" y="671068"/>
                  </a:cubicBezTo>
                  <a:cubicBezTo>
                    <a:pt x="6426200" y="1041654"/>
                    <a:pt x="6125718" y="1342136"/>
                    <a:pt x="5755132" y="1342136"/>
                  </a:cubicBezTo>
                  <a:lnTo>
                    <a:pt x="671068" y="1342136"/>
                  </a:ln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75820" y="4732020"/>
            <a:ext cx="4800600" cy="987552"/>
            <a:chOff x="0" y="0"/>
            <a:chExt cx="6400800" cy="1316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40080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나보다 힘든 사람도 많잖아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45600">
            <a:off x="10613860" y="8518741"/>
            <a:ext cx="2154746" cy="0"/>
          </a:xfrm>
          <a:prstGeom prst="line">
            <a:avLst/>
          </a:prstGeom>
          <a:ln cap="rnd" w="19050">
            <a:solidFill>
              <a:srgbClr val="F5C8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2808515" y="8020202"/>
            <a:ext cx="4280535" cy="1016127"/>
            <a:chOff x="0" y="0"/>
            <a:chExt cx="5707380" cy="13548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07380" cy="1354836"/>
            </a:xfrm>
            <a:custGeom>
              <a:avLst/>
              <a:gdLst/>
              <a:ahLst/>
              <a:cxnLst/>
              <a:rect r="r" b="b" t="t" l="l"/>
              <a:pathLst>
                <a:path h="1354836" w="5707380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5029962" y="0"/>
                  </a:lnTo>
                  <a:cubicBezTo>
                    <a:pt x="5404104" y="0"/>
                    <a:pt x="5707380" y="303276"/>
                    <a:pt x="5707380" y="677418"/>
                  </a:cubicBezTo>
                  <a:cubicBezTo>
                    <a:pt x="5707380" y="1051560"/>
                    <a:pt x="5404104" y="1354836"/>
                    <a:pt x="5029962" y="1354836"/>
                  </a:cubicBezTo>
                  <a:lnTo>
                    <a:pt x="677418" y="1354836"/>
                  </a:ln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8E7"/>
            </a:solidFill>
            <a:ln w="28575" cap="sq">
              <a:solidFill>
                <a:srgbClr val="F5C83A"/>
              </a:solidFill>
              <a:prstDash val="dash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22803" y="8034490"/>
            <a:ext cx="4251960" cy="987552"/>
            <a:chOff x="0" y="0"/>
            <a:chExt cx="5669280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93" r="0" b="-3389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56692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사실 나 많이 힘들어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22803" y="7458418"/>
            <a:ext cx="4251960" cy="411480"/>
            <a:chOff x="0" y="0"/>
            <a:chExt cx="566928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6692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끝내 보내지 못한 한 줄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9528048"/>
            <a:ext cx="15544343" cy="548640"/>
            <a:chOff x="0" y="0"/>
            <a:chExt cx="2072579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725791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59" r="0" b="-50205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072579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괜찮다는 말 뒤에, </a:t>
              </a:r>
              <a:r>
                <a:rPr lang="en-US" sz="24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말하지 못한 마음</a:t>
              </a: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 조용히 쌓입니다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7491136" y="2729603"/>
            <a:ext cx="3191428" cy="6674882"/>
          </a:xfrm>
          <a:custGeom>
            <a:avLst/>
            <a:gdLst/>
            <a:ahLst/>
            <a:cxnLst/>
            <a:rect r="r" b="b" t="t" l="l"/>
            <a:pathLst>
              <a:path h="6674882" w="3191428">
                <a:moveTo>
                  <a:pt x="0" y="0"/>
                </a:moveTo>
                <a:lnTo>
                  <a:pt x="3191428" y="0"/>
                </a:lnTo>
                <a:lnTo>
                  <a:pt x="3191428" y="6674882"/>
                </a:lnTo>
                <a:lnTo>
                  <a:pt x="0" y="667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9429" y="363474"/>
            <a:ext cx="8229600" cy="411480"/>
            <a:chOff x="0" y="0"/>
            <a:chExt cx="109728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b="true" sz="1725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DESK RESEARCH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6257" y="1145286"/>
            <a:ext cx="16915943" cy="1645920"/>
            <a:chOff x="0" y="0"/>
            <a:chExt cx="2255459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5459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0257" r="0" b="-1502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55459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20·30대 네 명 중 세 명 이상이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지난 1년 마음의 어려움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을 겪었습니다</a:t>
              </a: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4276" y="3158130"/>
            <a:ext cx="5678424" cy="5678424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327478" y="5277252"/>
            <a:ext cx="4732020" cy="1067284"/>
            <a:chOff x="0" y="0"/>
            <a:chExt cx="6309360" cy="14230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09360" cy="1423045"/>
            </a:xfrm>
            <a:custGeom>
              <a:avLst/>
              <a:gdLst/>
              <a:ahLst/>
              <a:cxnLst/>
              <a:rect r="r" b="b" t="t" l="l"/>
              <a:pathLst>
                <a:path h="1423045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23045"/>
                  </a:lnTo>
                  <a:lnTo>
                    <a:pt x="0" y="1423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198" r="0" b="-345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309360" cy="1423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78.5%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7478" y="6237372"/>
            <a:ext cx="4732020" cy="548640"/>
            <a:chOff x="0" y="0"/>
            <a:chExt cx="63093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20대·30대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3417" y="9662922"/>
            <a:ext cx="14401800" cy="356616"/>
            <a:chOff x="0" y="0"/>
            <a:chExt cx="19202400" cy="475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5" r="0" b="-7368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국립정신건강센터, 2024 국민 정신건강 지식 및 태도 조사 (전국 15~69세 3,000명, 연령대별 결과)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26139" y="3837072"/>
            <a:ext cx="4937760" cy="1645920"/>
            <a:chOff x="0" y="0"/>
            <a:chExt cx="658368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58368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73.6%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69639" y="4083960"/>
            <a:ext cx="5486400" cy="548640"/>
            <a:chOff x="0" y="0"/>
            <a:chExt cx="73152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지난 1년 정신건강 문제 경험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69639" y="4742328"/>
            <a:ext cx="438912" cy="438912"/>
            <a:chOff x="0" y="0"/>
            <a:chExt cx="585216" cy="585216"/>
          </a:xfrm>
        </p:grpSpPr>
        <p:sp>
          <p:nvSpPr>
            <p:cNvPr name="Freeform 26" id="26" descr="/home/claude/v3/icons/trend_amber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818279" y="4687464"/>
            <a:ext cx="4800600" cy="548640"/>
            <a:chOff x="0" y="0"/>
            <a:chExt cx="64008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400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2022년 63.9%에서 +9.7%p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94719" y="5482992"/>
            <a:ext cx="10424160" cy="411480"/>
            <a:chOff x="0" y="0"/>
            <a:chExt cx="1389888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898880" cy="548640"/>
            </a:xfrm>
            <a:custGeom>
              <a:avLst/>
              <a:gdLst/>
              <a:ahLst/>
              <a:cxnLst/>
              <a:rect r="r" b="b" t="t" l="l"/>
              <a:pathLst>
                <a:path h="5486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620" r="0" b="-4436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389888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20대 </a:t>
              </a:r>
              <a:r>
                <a:rPr lang="en-US" sz="1725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76.6%</a:t>
              </a: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 · 30대 </a:t>
              </a:r>
              <a:r>
                <a:rPr lang="en-US" sz="1725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79.9%</a:t>
              </a:r>
              <a:r>
                <a:rPr lang="en-US" sz="17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가 스트레스 · 우울감 · 불안 · 불면 등 조사 항목 중  하나 이상 경험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7185193" y="6364963"/>
            <a:ext cx="10263605" cy="9569"/>
          </a:xfrm>
          <a:prstGeom prst="line">
            <a:avLst/>
          </a:prstGeom>
          <a:ln cap="rnd" w="9525">
            <a:solidFill>
              <a:srgbClr val="EADF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7126139" y="6717432"/>
            <a:ext cx="4937760" cy="1645920"/>
            <a:chOff x="0" y="0"/>
            <a:chExt cx="658368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58368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24.9%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69639" y="6964320"/>
            <a:ext cx="5486400" cy="548640"/>
            <a:chOff x="0" y="0"/>
            <a:chExt cx="73152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73152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정신건강 서비스 이용 방법 인지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21633" y="7622688"/>
            <a:ext cx="438912" cy="438912"/>
            <a:chOff x="0" y="0"/>
            <a:chExt cx="585216" cy="585216"/>
          </a:xfrm>
        </p:grpSpPr>
        <p:sp>
          <p:nvSpPr>
            <p:cNvPr name="Freeform 41" id="41" descr="/home/claude/v3/icons/down_ink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18279" y="7567824"/>
            <a:ext cx="4800600" cy="548640"/>
            <a:chOff x="0" y="0"/>
            <a:chExt cx="640080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400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2022년 27.9%에서 −3.0%p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3772" y="411480"/>
            <a:ext cx="8229600" cy="480060"/>
            <a:chOff x="0" y="0"/>
            <a:chExt cx="109728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6"/>
                </a:lnSpc>
              </a:pPr>
              <a:r>
                <a:rPr lang="en-US" b="true" sz="1730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PROBLEM  ·  INSIGHT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1600" y="1303020"/>
            <a:ext cx="15544343" cy="480060"/>
            <a:chOff x="0" y="0"/>
            <a:chExt cx="2072579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5791" cy="640080"/>
            </a:xfrm>
            <a:custGeom>
              <a:avLst/>
              <a:gdLst/>
              <a:ahLst/>
              <a:cxnLst/>
              <a:rect r="r" b="b" t="t" l="l"/>
              <a:pathLst>
                <a:path h="64008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925" r="0" b="-5809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72579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아직은 괜찮은 것 같으니까…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821942"/>
            <a:ext cx="16092983" cy="73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sz="4500" b="true">
                <a:solidFill>
                  <a:srgbClr val="E39A1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“나 정도면 상담은 안 받아도 되겠지?”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2075" y="6537960"/>
            <a:ext cx="4888230" cy="1802130"/>
            <a:chOff x="0" y="0"/>
            <a:chExt cx="6517640" cy="240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7640" cy="2402840"/>
            </a:xfrm>
            <a:custGeom>
              <a:avLst/>
              <a:gdLst/>
              <a:ahLst/>
              <a:cxnLst/>
              <a:rect r="r" b="b" t="t" l="l"/>
              <a:pathLst>
                <a:path h="2402840" w="6517640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6295771" y="0"/>
                  </a:lnTo>
                  <a:cubicBezTo>
                    <a:pt x="6418326" y="0"/>
                    <a:pt x="6517640" y="99314"/>
                    <a:pt x="6517640" y="221869"/>
                  </a:cubicBezTo>
                  <a:lnTo>
                    <a:pt x="6517640" y="2180971"/>
                  </a:lnTo>
                  <a:cubicBezTo>
                    <a:pt x="6517640" y="2303526"/>
                    <a:pt x="6418326" y="2402840"/>
                    <a:pt x="6295771" y="2402840"/>
                  </a:cubicBezTo>
                  <a:lnTo>
                    <a:pt x="221869" y="2402840"/>
                  </a:lnTo>
                  <a:cubicBezTo>
                    <a:pt x="99314" y="2402840"/>
                    <a:pt x="0" y="2303526"/>
                    <a:pt x="0" y="21809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6890385"/>
            <a:ext cx="4869180" cy="480060"/>
            <a:chOff x="0" y="0"/>
            <a:chExt cx="649224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92240" cy="640080"/>
            </a:xfrm>
            <a:custGeom>
              <a:avLst/>
              <a:gdLst/>
              <a:ahLst/>
              <a:cxnLst/>
              <a:rect r="r" b="b" t="t" l="l"/>
              <a:pathLst>
                <a:path h="6400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92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마음이 지친 일상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7411593"/>
            <a:ext cx="4869180" cy="411480"/>
            <a:chOff x="0" y="0"/>
            <a:chExt cx="649224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4922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지금 청년들이 머무는 곳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80360" y="4284345"/>
            <a:ext cx="1875177" cy="2263140"/>
            <a:chOff x="0" y="0"/>
            <a:chExt cx="2500236" cy="3017520"/>
          </a:xfrm>
        </p:grpSpPr>
        <p:sp>
          <p:nvSpPr>
            <p:cNvPr name="Freeform 19" id="19" descr="/home/claude/build/img/image-7-3.png"/>
            <p:cNvSpPr/>
            <p:nvPr/>
          </p:nvSpPr>
          <p:spPr>
            <a:xfrm flipH="false" flipV="false" rot="0">
              <a:off x="0" y="0"/>
              <a:ext cx="2500249" cy="3017520"/>
            </a:xfrm>
            <a:custGeom>
              <a:avLst/>
              <a:gdLst/>
              <a:ahLst/>
              <a:cxnLst/>
              <a:rect r="r" b="b" t="t" l="l"/>
              <a:pathLst>
                <a:path h="3017520" w="2500249">
                  <a:moveTo>
                    <a:pt x="0" y="0"/>
                  </a:moveTo>
                  <a:lnTo>
                    <a:pt x="2500249" y="0"/>
                  </a:lnTo>
                  <a:lnTo>
                    <a:pt x="2500249" y="3017520"/>
                  </a:lnTo>
                  <a:lnTo>
                    <a:pt x="0" y="301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96050" y="5019675"/>
            <a:ext cx="4907280" cy="3329940"/>
            <a:chOff x="0" y="0"/>
            <a:chExt cx="6543040" cy="4439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43040" cy="4439920"/>
            </a:xfrm>
            <a:custGeom>
              <a:avLst/>
              <a:gdLst/>
              <a:ahLst/>
              <a:cxnLst/>
              <a:rect r="r" b="b" t="t" l="l"/>
              <a:pathLst>
                <a:path h="4439920" w="654304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6321044" y="0"/>
                  </a:lnTo>
                  <a:cubicBezTo>
                    <a:pt x="6443599" y="0"/>
                    <a:pt x="6543040" y="99441"/>
                    <a:pt x="6543040" y="221996"/>
                  </a:cubicBezTo>
                  <a:lnTo>
                    <a:pt x="6543040" y="4217924"/>
                  </a:lnTo>
                  <a:cubicBezTo>
                    <a:pt x="6543040" y="4340479"/>
                    <a:pt x="6443599" y="4439920"/>
                    <a:pt x="6321044" y="4439920"/>
                  </a:cubicBezTo>
                  <a:lnTo>
                    <a:pt x="221996" y="4439920"/>
                  </a:lnTo>
                  <a:cubicBezTo>
                    <a:pt x="99441" y="4439920"/>
                    <a:pt x="0" y="4340479"/>
                    <a:pt x="0" y="4217924"/>
                  </a:cubicBezTo>
                  <a:close/>
                </a:path>
              </a:pathLst>
            </a:custGeom>
            <a:solidFill>
              <a:srgbClr val="F5C83A">
                <a:alpha val="1176"/>
              </a:srgbClr>
            </a:solidFill>
            <a:ln w="38100" cap="sq">
              <a:solidFill>
                <a:srgbClr val="F5C83A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15100" y="5381625"/>
            <a:ext cx="4869180" cy="1371600"/>
            <a:chOff x="0" y="0"/>
            <a:chExt cx="649224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4922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15100" y="6890385"/>
            <a:ext cx="4869180" cy="480060"/>
            <a:chOff x="0" y="0"/>
            <a:chExt cx="649224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92240" cy="640080"/>
            </a:xfrm>
            <a:custGeom>
              <a:avLst/>
              <a:gdLst/>
              <a:ahLst/>
              <a:cxnLst/>
              <a:rect r="r" b="b" t="t" l="l"/>
              <a:pathLst>
                <a:path h="6400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492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가볍게 딛을 첫 단계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15100" y="7411593"/>
            <a:ext cx="4869180" cy="411480"/>
            <a:chOff x="0" y="0"/>
            <a:chExt cx="64922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4922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비어 있음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15100" y="4215765"/>
            <a:ext cx="4869180" cy="480060"/>
            <a:chOff x="0" y="0"/>
            <a:chExt cx="649224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240" cy="640080"/>
            </a:xfrm>
            <a:custGeom>
              <a:avLst/>
              <a:gdLst/>
              <a:ahLst/>
              <a:cxnLst/>
              <a:rect r="r" b="b" t="t" l="l"/>
              <a:pathLst>
                <a:path h="6400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649224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한 번에 오르기엔 너무 높은 계단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649075" y="3314700"/>
            <a:ext cx="5299710" cy="5025390"/>
            <a:chOff x="0" y="0"/>
            <a:chExt cx="7066280" cy="6700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6280" cy="6700520"/>
            </a:xfrm>
            <a:custGeom>
              <a:avLst/>
              <a:gdLst/>
              <a:ahLst/>
              <a:cxnLst/>
              <a:rect r="r" b="b" t="t" l="l"/>
              <a:pathLst>
                <a:path h="6700520" w="706628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845935" y="0"/>
                  </a:lnTo>
                  <a:cubicBezTo>
                    <a:pt x="6967601" y="0"/>
                    <a:pt x="7066280" y="98679"/>
                    <a:pt x="7066280" y="220345"/>
                  </a:cubicBezTo>
                  <a:lnTo>
                    <a:pt x="7066280" y="6480175"/>
                  </a:lnTo>
                  <a:cubicBezTo>
                    <a:pt x="7066280" y="6601841"/>
                    <a:pt x="6967601" y="6700520"/>
                    <a:pt x="6845935" y="6700520"/>
                  </a:cubicBezTo>
                  <a:lnTo>
                    <a:pt x="220345" y="6700520"/>
                  </a:lnTo>
                  <a:cubicBezTo>
                    <a:pt x="98679" y="6700520"/>
                    <a:pt x="0" y="6601841"/>
                    <a:pt x="0" y="64801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658600" y="3667125"/>
            <a:ext cx="5280660" cy="480060"/>
            <a:chOff x="0" y="0"/>
            <a:chExt cx="704088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40880" cy="640080"/>
            </a:xfrm>
            <a:custGeom>
              <a:avLst/>
              <a:gdLst/>
              <a:ahLst/>
              <a:cxnLst/>
              <a:rect r="r" b="b" t="t" l="l"/>
              <a:pathLst>
                <a:path h="64008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0408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· 전문기관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658600" y="4174617"/>
            <a:ext cx="5280660" cy="411480"/>
            <a:chOff x="0" y="0"/>
            <a:chExt cx="704088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도움 요청이라는 큰 결심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991975" y="5166360"/>
            <a:ext cx="2145030" cy="595122"/>
            <a:chOff x="0" y="0"/>
            <a:chExt cx="2860040" cy="793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60040" cy="793496"/>
            </a:xfrm>
            <a:custGeom>
              <a:avLst/>
              <a:gdLst/>
              <a:ahLst/>
              <a:cxnLst/>
              <a:rect r="r" b="b" t="t" l="l"/>
              <a:pathLst>
                <a:path h="793496" w="286004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463292" y="0"/>
                  </a:lnTo>
                  <a:cubicBezTo>
                    <a:pt x="2682367" y="0"/>
                    <a:pt x="2860040" y="177673"/>
                    <a:pt x="2860040" y="396748"/>
                  </a:cubicBezTo>
                  <a:cubicBezTo>
                    <a:pt x="2860040" y="615823"/>
                    <a:pt x="2682367" y="793496"/>
                    <a:pt x="246329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001500" y="5175885"/>
            <a:ext cx="2125980" cy="576072"/>
            <a:chOff x="0" y="0"/>
            <a:chExt cx="283464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83464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거리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60855" y="5166360"/>
            <a:ext cx="2145030" cy="595122"/>
            <a:chOff x="0" y="0"/>
            <a:chExt cx="2860040" cy="7934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60040" cy="793496"/>
            </a:xfrm>
            <a:custGeom>
              <a:avLst/>
              <a:gdLst/>
              <a:ahLst/>
              <a:cxnLst/>
              <a:rect r="r" b="b" t="t" l="l"/>
              <a:pathLst>
                <a:path h="793496" w="286004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463292" y="0"/>
                  </a:lnTo>
                  <a:cubicBezTo>
                    <a:pt x="2682367" y="0"/>
                    <a:pt x="2860040" y="177673"/>
                    <a:pt x="2860040" y="396748"/>
                  </a:cubicBezTo>
                  <a:cubicBezTo>
                    <a:pt x="2860040" y="615823"/>
                    <a:pt x="2682367" y="793496"/>
                    <a:pt x="246329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470380" y="5175885"/>
            <a:ext cx="2125980" cy="576072"/>
            <a:chOff x="0" y="0"/>
            <a:chExt cx="283464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34640" cy="768096"/>
            </a:xfrm>
            <a:custGeom>
              <a:avLst/>
              <a:gdLst/>
              <a:ahLst/>
              <a:cxnLst/>
              <a:rect r="r" b="b" t="t" l="l"/>
              <a:pathLst>
                <a:path h="76809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9" r="0" b="-219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283464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비용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991975" y="5920740"/>
            <a:ext cx="3036570" cy="595122"/>
            <a:chOff x="0" y="0"/>
            <a:chExt cx="4048760" cy="7934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48760" cy="793496"/>
            </a:xfrm>
            <a:custGeom>
              <a:avLst/>
              <a:gdLst/>
              <a:ahLst/>
              <a:cxnLst/>
              <a:rect r="r" b="b" t="t" l="l"/>
              <a:pathLst>
                <a:path h="793496" w="404876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3652012" y="0"/>
                  </a:lnTo>
                  <a:cubicBezTo>
                    <a:pt x="3871087" y="0"/>
                    <a:pt x="4048760" y="177673"/>
                    <a:pt x="4048760" y="396748"/>
                  </a:cubicBezTo>
                  <a:cubicBezTo>
                    <a:pt x="4048760" y="615823"/>
                    <a:pt x="3871087" y="793496"/>
                    <a:pt x="365201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001500" y="5930265"/>
            <a:ext cx="3017520" cy="576072"/>
            <a:chOff x="0" y="0"/>
            <a:chExt cx="4023360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402336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기록 보안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215235" y="6162675"/>
            <a:ext cx="1390650" cy="595122"/>
            <a:chOff x="0" y="0"/>
            <a:chExt cx="1854200" cy="7934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54200" cy="793496"/>
            </a:xfrm>
            <a:custGeom>
              <a:avLst/>
              <a:gdLst/>
              <a:ahLst/>
              <a:cxnLst/>
              <a:rect r="r" b="b" t="t" l="l"/>
              <a:pathLst>
                <a:path h="793496" w="185420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457452" y="0"/>
                  </a:lnTo>
                  <a:cubicBezTo>
                    <a:pt x="1676527" y="0"/>
                    <a:pt x="1854200" y="177673"/>
                    <a:pt x="1854200" y="396748"/>
                  </a:cubicBezTo>
                  <a:cubicBezTo>
                    <a:pt x="1854200" y="615823"/>
                    <a:pt x="1676527" y="793496"/>
                    <a:pt x="145745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224760" y="6172200"/>
            <a:ext cx="1371600" cy="576072"/>
            <a:chOff x="0" y="0"/>
            <a:chExt cx="1828800" cy="7680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768096"/>
            </a:xfrm>
            <a:custGeom>
              <a:avLst/>
              <a:gdLst/>
              <a:ahLst/>
              <a:cxnLst/>
              <a:rect r="r" b="b" t="t" l="l"/>
              <a:pathLst>
                <a:path h="76809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182880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익명성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991975" y="6675120"/>
            <a:ext cx="4613910" cy="595122"/>
            <a:chOff x="0" y="0"/>
            <a:chExt cx="6151880" cy="7934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51880" cy="793496"/>
            </a:xfrm>
            <a:custGeom>
              <a:avLst/>
              <a:gdLst/>
              <a:ahLst/>
              <a:cxnLst/>
              <a:rect r="r" b="b" t="t" l="l"/>
              <a:pathLst>
                <a:path h="793496" w="615188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5755132" y="0"/>
                  </a:lnTo>
                  <a:cubicBezTo>
                    <a:pt x="5974207" y="0"/>
                    <a:pt x="6151880" y="177673"/>
                    <a:pt x="6151880" y="396748"/>
                  </a:cubicBezTo>
                  <a:cubicBezTo>
                    <a:pt x="6151880" y="615823"/>
                    <a:pt x="5974207" y="793496"/>
                    <a:pt x="575513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001500" y="6684645"/>
            <a:ext cx="4594860" cy="576072"/>
            <a:chOff x="0" y="0"/>
            <a:chExt cx="6126480" cy="7680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126480" cy="768096"/>
            </a:xfrm>
            <a:custGeom>
              <a:avLst/>
              <a:gdLst/>
              <a:ahLst/>
              <a:cxnLst/>
              <a:rect r="r" b="b" t="t" l="l"/>
              <a:pathLst>
                <a:path h="76809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416" r="0" b="-10541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612648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5A4A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가면 무엇을 하는지 모름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658600" y="7603617"/>
            <a:ext cx="5280660" cy="411480"/>
            <a:chOff x="0" y="0"/>
            <a:chExt cx="70408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7040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청년들이 도움을 찾을 때 동시에 따진 것들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97280" y="8692515"/>
            <a:ext cx="16092983" cy="548640"/>
            <a:chOff x="0" y="0"/>
            <a:chExt cx="2145731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45731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544" r="0" b="-52154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2145731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스스로를 ‘도움이 필요한 사람’이라 인정하기 전, </a:t>
              </a:r>
              <a:r>
                <a:rPr lang="en-US" sz="24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딛고 올라설 첫 계단이 없습니다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9601200"/>
            <a:ext cx="15361920" cy="411480"/>
            <a:chOff x="0" y="0"/>
            <a:chExt cx="2048256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482561" cy="548640"/>
            </a:xfrm>
            <a:custGeom>
              <a:avLst/>
              <a:gdLst/>
              <a:ahLst/>
              <a:cxnLst/>
              <a:rect r="r" b="b" t="t" l="l"/>
              <a:pathLst>
                <a:path h="5486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7441" r="0" b="-67744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04825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한국보건사회연구원 「보건사회연구」, 청년 정신건강 도움요청 과정 심층면접 연구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b="true" sz="1725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OUR INSIGHT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1097280"/>
            <a:ext cx="16915943" cy="1714500"/>
            <a:chOff x="0" y="0"/>
            <a:chExt cx="2255459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247" r="0" b="-14224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2554590" cy="2362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우리가 발견한 빈틈은 ‘상담’이 아니라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상담을 찾기 전의 마음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이었습니다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8846820"/>
            <a:ext cx="18287543" cy="617220"/>
            <a:chOff x="0" y="0"/>
            <a:chExt cx="2438339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91" cy="822960"/>
            </a:xfrm>
            <a:custGeom>
              <a:avLst/>
              <a:gdLst/>
              <a:ahLst/>
              <a:cxnLst/>
              <a:rect r="r" b="b" t="t" l="l"/>
              <a:pathLst>
                <a:path h="82296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320" r="0" b="-5273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438339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고위험군이 된 이후의 개입이 아니라, </a:t>
              </a:r>
              <a:r>
                <a:rPr lang="en-US" sz="24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그 이전의 마음을 놓치지 않는 일상 속 그물망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7328535"/>
            <a:ext cx="2668524" cy="430530"/>
            <a:chOff x="0" y="0"/>
            <a:chExt cx="3558032" cy="574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FF3D1"/>
            </a:solidFill>
            <a:ln w="19050" cap="sq">
              <a:solidFill>
                <a:srgbClr val="FFF3D1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860673" y="7328535"/>
            <a:ext cx="2668524" cy="430530"/>
            <a:chOff x="0" y="0"/>
            <a:chExt cx="3558032" cy="574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DE6A6"/>
            </a:solidFill>
            <a:ln w="19050" cap="sq">
              <a:solidFill>
                <a:srgbClr val="FDE6A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96431" y="7328535"/>
            <a:ext cx="2668524" cy="430530"/>
            <a:chOff x="0" y="0"/>
            <a:chExt cx="3558032" cy="574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9D56E"/>
            </a:solidFill>
            <a:ln w="19050" cap="sq">
              <a:solidFill>
                <a:srgbClr val="F9D56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32189" y="7328535"/>
            <a:ext cx="2668524" cy="430530"/>
            <a:chOff x="0" y="0"/>
            <a:chExt cx="3558032" cy="574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F2BE3A"/>
            </a:solidFill>
            <a:ln w="19050" cap="sq">
              <a:solidFill>
                <a:srgbClr val="F2BE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767947" y="7328535"/>
            <a:ext cx="2668524" cy="430530"/>
            <a:chOff x="0" y="0"/>
            <a:chExt cx="3558032" cy="574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E39A12"/>
            </a:solidFill>
            <a:ln w="19050" cap="sq">
              <a:solidFill>
                <a:srgbClr val="E39A1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403705" y="7328535"/>
            <a:ext cx="2668524" cy="430530"/>
            <a:chOff x="0" y="0"/>
            <a:chExt cx="3558032" cy="574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58032" cy="574040"/>
            </a:xfrm>
            <a:custGeom>
              <a:avLst/>
              <a:gdLst/>
              <a:ahLst/>
              <a:cxnLst/>
              <a:rect r="r" b="b" t="t" l="l"/>
              <a:pathLst>
                <a:path h="574040" w="3558032">
                  <a:moveTo>
                    <a:pt x="0" y="0"/>
                  </a:moveTo>
                  <a:lnTo>
                    <a:pt x="3558032" y="0"/>
                  </a:lnTo>
                  <a:lnTo>
                    <a:pt x="3558032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C47A00"/>
            </a:solidFill>
            <a:ln w="19050" cap="sq">
              <a:solidFill>
                <a:srgbClr val="C47A0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7859268"/>
            <a:ext cx="2057400" cy="411480"/>
            <a:chOff x="0" y="0"/>
            <a:chExt cx="27432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743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괜찮음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86371" y="7859268"/>
            <a:ext cx="4114800" cy="411480"/>
            <a:chOff x="0" y="0"/>
            <a:chExt cx="5486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&lt;마음의 무게&gt;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91588" y="7859268"/>
            <a:ext cx="2057400" cy="411480"/>
            <a:chOff x="0" y="0"/>
            <a:chExt cx="27432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743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위기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20791" y="3343751"/>
            <a:ext cx="6617018" cy="3668078"/>
            <a:chOff x="0" y="0"/>
            <a:chExt cx="8822690" cy="48907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22690" cy="4890770"/>
            </a:xfrm>
            <a:custGeom>
              <a:avLst/>
              <a:gdLst/>
              <a:ahLst/>
              <a:cxnLst/>
              <a:rect r="r" b="b" t="t" l="l"/>
              <a:pathLst>
                <a:path h="4890770" w="882269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8527415" y="0"/>
                  </a:lnTo>
                  <a:cubicBezTo>
                    <a:pt x="8690483" y="0"/>
                    <a:pt x="8822690" y="132207"/>
                    <a:pt x="8822690" y="295275"/>
                  </a:cubicBezTo>
                  <a:lnTo>
                    <a:pt x="8822690" y="4595495"/>
                  </a:lnTo>
                  <a:cubicBezTo>
                    <a:pt x="8822690" y="4758563"/>
                    <a:pt x="8690483" y="4890770"/>
                    <a:pt x="8527415" y="4890770"/>
                  </a:cubicBezTo>
                  <a:lnTo>
                    <a:pt x="295275" y="4890770"/>
                  </a:lnTo>
                  <a:cubicBezTo>
                    <a:pt x="132207" y="4890770"/>
                    <a:pt x="0" y="4758563"/>
                    <a:pt x="0" y="4595495"/>
                  </a:cubicBezTo>
                  <a:close/>
                </a:path>
              </a:pathLst>
            </a:custGeom>
            <a:solidFill>
              <a:srgbClr val="F5C83A">
                <a:alpha val="1569"/>
              </a:srgbClr>
            </a:solidFill>
            <a:ln w="33338" cap="sq">
              <a:solidFill>
                <a:srgbClr val="E39A12"/>
              </a:solidFill>
              <a:prstDash val="dash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452938" y="3081338"/>
            <a:ext cx="2752725" cy="558165"/>
            <a:chOff x="0" y="0"/>
            <a:chExt cx="3670300" cy="7442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70300" cy="744220"/>
            </a:xfrm>
            <a:custGeom>
              <a:avLst/>
              <a:gdLst/>
              <a:ahLst/>
              <a:cxnLst/>
              <a:rect r="r" b="b" t="t" l="l"/>
              <a:pathLst>
                <a:path h="744220" w="3670300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3298190" y="0"/>
                  </a:lnTo>
                  <a:cubicBezTo>
                    <a:pt x="3503676" y="0"/>
                    <a:pt x="3670300" y="166624"/>
                    <a:pt x="3670300" y="372110"/>
                  </a:cubicBezTo>
                  <a:cubicBezTo>
                    <a:pt x="3670300" y="577596"/>
                    <a:pt x="3503676" y="744220"/>
                    <a:pt x="3298190" y="744220"/>
                  </a:cubicBezTo>
                  <a:lnTo>
                    <a:pt x="372110" y="744220"/>
                  </a:lnTo>
                  <a:cubicBezTo>
                    <a:pt x="166624" y="744220"/>
                    <a:pt x="0" y="577596"/>
                    <a:pt x="0" y="372110"/>
                  </a:cubicBezTo>
                  <a:close/>
                </a:path>
              </a:pathLst>
            </a:custGeom>
            <a:solidFill>
              <a:srgbClr val="E39A12"/>
            </a:solidFill>
            <a:ln w="9525" cap="sq">
              <a:solidFill>
                <a:srgbClr val="E39A1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4457700" y="3086100"/>
            <a:ext cx="2743200" cy="548640"/>
            <a:chOff x="0" y="0"/>
            <a:chExt cx="365760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비어 있던 구간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537460" y="3840480"/>
            <a:ext cx="6583680" cy="438912"/>
            <a:chOff x="0" y="0"/>
            <a:chExt cx="877824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0" cy="585216"/>
            </a:xfrm>
            <a:custGeom>
              <a:avLst/>
              <a:gdLst/>
              <a:ahLst/>
              <a:cxnLst/>
              <a:rect r="r" b="b" t="t" l="l"/>
              <a:pathLst>
                <a:path h="58521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877824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도움을 요청하기 전의 마음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566160" y="5143500"/>
            <a:ext cx="4526280" cy="1659636"/>
            <a:chOff x="0" y="0"/>
            <a:chExt cx="6035040" cy="2212848"/>
          </a:xfrm>
        </p:grpSpPr>
        <p:sp>
          <p:nvSpPr>
            <p:cNvPr name="Freeform 50" id="50" descr="/home/claude/tpl/assets/hammock.png"/>
            <p:cNvSpPr/>
            <p:nvPr/>
          </p:nvSpPr>
          <p:spPr>
            <a:xfrm flipH="false" flipV="false" rot="0">
              <a:off x="0" y="0"/>
              <a:ext cx="6035040" cy="2212848"/>
            </a:xfrm>
            <a:custGeom>
              <a:avLst/>
              <a:gdLst/>
              <a:ahLst/>
              <a:cxnLst/>
              <a:rect r="r" b="b" t="t" l="l"/>
              <a:pathLst>
                <a:path h="221284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212848"/>
                  </a:lnTo>
                  <a:lnTo>
                    <a:pt x="0" y="2212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663440" y="4841748"/>
            <a:ext cx="2331720" cy="1152144"/>
            <a:chOff x="0" y="0"/>
            <a:chExt cx="3108960" cy="1536192"/>
          </a:xfrm>
        </p:grpSpPr>
        <p:sp>
          <p:nvSpPr>
            <p:cNvPr name="Freeform 52" id="52" descr="/home/claude/tpl/assets/bird_lying_net.png"/>
            <p:cNvSpPr/>
            <p:nvPr/>
          </p:nvSpPr>
          <p:spPr>
            <a:xfrm flipH="false" flipV="false" rot="0">
              <a:off x="0" y="0"/>
              <a:ext cx="3108960" cy="1536192"/>
            </a:xfrm>
            <a:custGeom>
              <a:avLst/>
              <a:gdLst/>
              <a:ahLst/>
              <a:cxnLst/>
              <a:rect r="r" b="b" t="t" l="l"/>
              <a:pathLst>
                <a:path h="15361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3" r="0" b="-243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537460" y="4347972"/>
            <a:ext cx="6583680" cy="617220"/>
            <a:chOff x="0" y="0"/>
            <a:chExt cx="877824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877824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 Letter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177100">
            <a:off x="5645553" y="7161848"/>
            <a:ext cx="367484" cy="0"/>
          </a:xfrm>
          <a:prstGeom prst="line">
            <a:avLst/>
          </a:prstGeom>
          <a:ln cap="rnd" w="9525">
            <a:solidFill>
              <a:srgbClr val="E39A1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9875520" y="3154680"/>
            <a:ext cx="7132320" cy="411480"/>
            <a:chOff x="0" y="0"/>
            <a:chExt cx="950976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5097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기존의 도움 — 먼저 말한 사람에게서 시작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70757" y="3767138"/>
            <a:ext cx="2231517" cy="1861185"/>
            <a:chOff x="0" y="0"/>
            <a:chExt cx="2975356" cy="24815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75356" cy="2481580"/>
            </a:xfrm>
            <a:custGeom>
              <a:avLst/>
              <a:gdLst/>
              <a:ahLst/>
              <a:cxnLst/>
              <a:rect r="r" b="b" t="t" l="l"/>
              <a:pathLst>
                <a:path h="2481580" w="297535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875520" y="4046220"/>
            <a:ext cx="2221992" cy="548640"/>
            <a:chOff x="0" y="0"/>
            <a:chExt cx="2962656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 손편지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012680" y="4622292"/>
            <a:ext cx="1947672" cy="754380"/>
            <a:chOff x="0" y="0"/>
            <a:chExt cx="2596896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96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" r="0" b="-3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고민을 직접 써야 시작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5362200">
            <a:off x="10119693" y="6476048"/>
            <a:ext cx="1733655" cy="0"/>
          </a:xfrm>
          <a:prstGeom prst="line">
            <a:avLst/>
          </a:prstGeom>
          <a:ln cap="rnd" w="9525">
            <a:solidFill>
              <a:srgbClr val="A092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2271057" y="4288346"/>
            <a:ext cx="2231517" cy="1861185"/>
            <a:chOff x="0" y="0"/>
            <a:chExt cx="2975356" cy="24815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75356" cy="2481580"/>
            </a:xfrm>
            <a:custGeom>
              <a:avLst/>
              <a:gdLst/>
              <a:ahLst/>
              <a:cxnLst/>
              <a:rect r="r" b="b" t="t" l="l"/>
              <a:pathLst>
                <a:path h="2481580" w="297535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275820" y="4567428"/>
            <a:ext cx="2221992" cy="548640"/>
            <a:chOff x="0" y="0"/>
            <a:chExt cx="2962656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상담 앱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412980" y="5143500"/>
            <a:ext cx="1947672" cy="754380"/>
            <a:chOff x="0" y="0"/>
            <a:chExt cx="2596896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96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" r="0" b="-30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마인드카페 · 트로스트</a:t>
              </a:r>
            </a:p>
          </p:txBody>
        </p:sp>
      </p:grpSp>
      <p:sp>
        <p:nvSpPr>
          <p:cNvPr name="AutoShape 77" id="77"/>
          <p:cNvSpPr/>
          <p:nvPr/>
        </p:nvSpPr>
        <p:spPr>
          <a:xfrm rot="5346000">
            <a:off x="12780569" y="6736652"/>
            <a:ext cx="1212494" cy="0"/>
          </a:xfrm>
          <a:prstGeom prst="line">
            <a:avLst/>
          </a:prstGeom>
          <a:ln cap="rnd" w="9525">
            <a:solidFill>
              <a:srgbClr val="A092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14671357" y="4809554"/>
            <a:ext cx="2231517" cy="1861185"/>
            <a:chOff x="0" y="0"/>
            <a:chExt cx="2975356" cy="24815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75356" cy="2481580"/>
            </a:xfrm>
            <a:custGeom>
              <a:avLst/>
              <a:gdLst/>
              <a:ahLst/>
              <a:cxnLst/>
              <a:rect r="r" b="b" t="t" l="l"/>
              <a:pathLst>
                <a:path h="2481580" w="297535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2754757" y="0"/>
                  </a:lnTo>
                  <a:cubicBezTo>
                    <a:pt x="2876550" y="0"/>
                    <a:pt x="2975356" y="98806"/>
                    <a:pt x="2975356" y="220599"/>
                  </a:cubicBezTo>
                  <a:lnTo>
                    <a:pt x="2975356" y="2260981"/>
                  </a:lnTo>
                  <a:cubicBezTo>
                    <a:pt x="2975356" y="2382774"/>
                    <a:pt x="2876550" y="2481580"/>
                    <a:pt x="2754757" y="2481580"/>
                  </a:cubicBezTo>
                  <a:lnTo>
                    <a:pt x="220599" y="2481580"/>
                  </a:lnTo>
                  <a:cubicBezTo>
                    <a:pt x="98806" y="2481580"/>
                    <a:pt x="0" y="2382774"/>
                    <a:pt x="0" y="226098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4676120" y="5088636"/>
            <a:ext cx="2221992" cy="548640"/>
            <a:chOff x="0" y="0"/>
            <a:chExt cx="2962656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9626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전문 지원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813280" y="5664708"/>
            <a:ext cx="1947672" cy="754380"/>
            <a:chOff x="0" y="0"/>
            <a:chExt cx="2596896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96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" r="0" b="-30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2596896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정신건강복지센터 · 109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 rot="5305259">
            <a:off x="15441416" y="6997255"/>
            <a:ext cx="691401" cy="0"/>
          </a:xfrm>
          <a:prstGeom prst="line">
            <a:avLst/>
          </a:prstGeom>
          <a:ln cap="rnd" w="9525">
            <a:solidFill>
              <a:srgbClr val="A092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3772" y="411480"/>
            <a:ext cx="8229600" cy="480060"/>
            <a:chOff x="0" y="0"/>
            <a:chExt cx="109728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6"/>
                </a:lnSpc>
              </a:pPr>
              <a:r>
                <a:rPr lang="en-US" b="true" sz="1730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TARGET  ·  PERSONA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1600" y="1303020"/>
            <a:ext cx="15544343" cy="480060"/>
            <a:chOff x="0" y="0"/>
            <a:chExt cx="2072579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5791" cy="640080"/>
            </a:xfrm>
            <a:custGeom>
              <a:avLst/>
              <a:gdLst/>
              <a:ahLst/>
              <a:cxnLst/>
              <a:rect r="r" b="b" t="t" l="l"/>
              <a:pathLst>
                <a:path h="64008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925" r="0" b="-5809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72579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메인 페르소나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97280" y="1821942"/>
            <a:ext cx="16092983" cy="73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4499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괜찮냐는 물음에 웃어 넘기는 </a:t>
            </a:r>
            <a:r>
              <a:rPr lang="en-US" sz="4499" b="true">
                <a:solidFill>
                  <a:srgbClr val="E39A1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27살, 한지우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7755" y="3145155"/>
            <a:ext cx="5093970" cy="5985510"/>
            <a:chOff x="0" y="0"/>
            <a:chExt cx="6791960" cy="7980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91960" cy="7980680"/>
            </a:xfrm>
            <a:custGeom>
              <a:avLst/>
              <a:gdLst/>
              <a:ahLst/>
              <a:cxnLst/>
              <a:rect r="r" b="b" t="t" l="l"/>
              <a:pathLst>
                <a:path h="7980680" w="6791960">
                  <a:moveTo>
                    <a:pt x="0" y="403860"/>
                  </a:moveTo>
                  <a:cubicBezTo>
                    <a:pt x="0" y="180848"/>
                    <a:pt x="180848" y="0"/>
                    <a:pt x="403860" y="0"/>
                  </a:cubicBezTo>
                  <a:lnTo>
                    <a:pt x="6388100" y="0"/>
                  </a:lnTo>
                  <a:cubicBezTo>
                    <a:pt x="6611112" y="0"/>
                    <a:pt x="6791960" y="180848"/>
                    <a:pt x="6791960" y="403860"/>
                  </a:cubicBezTo>
                  <a:lnTo>
                    <a:pt x="6791960" y="7576820"/>
                  </a:lnTo>
                  <a:cubicBezTo>
                    <a:pt x="6791960" y="7799832"/>
                    <a:pt x="6611112" y="7980680"/>
                    <a:pt x="6388100" y="7980680"/>
                  </a:cubicBezTo>
                  <a:lnTo>
                    <a:pt x="403860" y="7980680"/>
                  </a:lnTo>
                  <a:cubicBezTo>
                    <a:pt x="180848" y="7980680"/>
                    <a:pt x="0" y="7799832"/>
                    <a:pt x="0" y="75768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518410" y="3547110"/>
            <a:ext cx="2232660" cy="2232660"/>
            <a:chOff x="0" y="0"/>
            <a:chExt cx="2976880" cy="297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76880" cy="2976880"/>
            </a:xfrm>
            <a:custGeom>
              <a:avLst/>
              <a:gdLst/>
              <a:ahLst/>
              <a:cxnLst/>
              <a:rect r="r" b="b" t="t" l="l"/>
              <a:pathLst>
                <a:path h="2976880" w="2976880">
                  <a:moveTo>
                    <a:pt x="0" y="1488440"/>
                  </a:moveTo>
                  <a:cubicBezTo>
                    <a:pt x="0" y="666369"/>
                    <a:pt x="666369" y="0"/>
                    <a:pt x="1488440" y="0"/>
                  </a:cubicBezTo>
                  <a:cubicBezTo>
                    <a:pt x="2310511" y="0"/>
                    <a:pt x="2976880" y="666369"/>
                    <a:pt x="2976880" y="1488440"/>
                  </a:cubicBezTo>
                  <a:cubicBezTo>
                    <a:pt x="2976880" y="2310511"/>
                    <a:pt x="2310511" y="2976880"/>
                    <a:pt x="1488440" y="2976880"/>
                  </a:cubicBezTo>
                  <a:cubicBezTo>
                    <a:pt x="666369" y="2976880"/>
                    <a:pt x="0" y="2310511"/>
                    <a:pt x="0" y="1488440"/>
                  </a:cubicBezTo>
                  <a:close/>
                </a:path>
              </a:pathLst>
            </a:custGeom>
            <a:solidFill>
              <a:srgbClr val="F3E7CF"/>
            </a:solidFill>
            <a:ln w="38100" cap="sq">
              <a:solidFill>
                <a:srgbClr val="F5C83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702052" y="3730752"/>
            <a:ext cx="1865376" cy="1865376"/>
            <a:chOff x="0" y="0"/>
            <a:chExt cx="2487168" cy="2487168"/>
          </a:xfrm>
        </p:grpSpPr>
        <p:sp>
          <p:nvSpPr>
            <p:cNvPr name="Freeform 18" id="18" descr="/home/claude/build/img/av_jiwoo.png"/>
            <p:cNvSpPr/>
            <p:nvPr/>
          </p:nvSpPr>
          <p:spPr>
            <a:xfrm flipH="false" flipV="false" rot="0">
              <a:off x="0" y="0"/>
              <a:ext cx="2487168" cy="2487168"/>
            </a:xfrm>
            <a:custGeom>
              <a:avLst/>
              <a:gdLst/>
              <a:ahLst/>
              <a:cxnLst/>
              <a:rect r="r" b="b" t="t" l="l"/>
              <a:pathLst>
                <a:path h="248716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2487168"/>
                  </a:lnTo>
                  <a:lnTo>
                    <a:pt x="0" y="2487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183380" y="5006340"/>
            <a:ext cx="754380" cy="754380"/>
            <a:chOff x="0" y="0"/>
            <a:chExt cx="1005840" cy="1005840"/>
          </a:xfrm>
        </p:grpSpPr>
        <p:sp>
          <p:nvSpPr>
            <p:cNvPr name="Freeform 20" id="20" descr="/home/claude/build/img/av_b_sigh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5925312"/>
            <a:ext cx="5074920" cy="548640"/>
            <a:chOff x="0" y="0"/>
            <a:chExt cx="67665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766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한지우 · 27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6473952"/>
            <a:ext cx="5074920" cy="411480"/>
            <a:chOff x="0" y="0"/>
            <a:chExt cx="676656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66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76656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직장생활 2년 차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30655" y="7191375"/>
            <a:ext cx="4408170" cy="773430"/>
            <a:chOff x="0" y="0"/>
            <a:chExt cx="5877560" cy="1031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775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87756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5361940" y="0"/>
                  </a:lnTo>
                  <a:cubicBezTo>
                    <a:pt x="5646674" y="0"/>
                    <a:pt x="5877560" y="230886"/>
                    <a:pt x="5877560" y="515620"/>
                  </a:cubicBezTo>
                  <a:cubicBezTo>
                    <a:pt x="5877560" y="800354"/>
                    <a:pt x="5646674" y="1031240"/>
                    <a:pt x="536194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EE500"/>
            </a:solidFill>
            <a:ln w="19050" cap="sq">
              <a:solidFill>
                <a:srgbClr val="FEE5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40180" y="7200900"/>
            <a:ext cx="4389120" cy="754380"/>
            <a:chOff x="0" y="0"/>
            <a:chExt cx="585216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8521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“회사 다니면 다 그렇지 뭐 ㅋㅋ”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8229600"/>
            <a:ext cx="5074920" cy="411480"/>
            <a:chOff x="0" y="0"/>
            <a:chExt cx="676656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66560" cy="548640"/>
            </a:xfrm>
            <a:custGeom>
              <a:avLst/>
              <a:gdLst/>
              <a:ahLst/>
              <a:cxnLst/>
              <a:rect r="r" b="b" t="t" l="l"/>
              <a:pathLst>
                <a:path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7665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#퇴근 후 무기력   #주말 내내 누워 있음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74155" y="3145155"/>
            <a:ext cx="5162550" cy="5985510"/>
            <a:chOff x="0" y="0"/>
            <a:chExt cx="6883400" cy="7980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834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6883400">
                  <a:moveTo>
                    <a:pt x="0" y="403860"/>
                  </a:moveTo>
                  <a:cubicBezTo>
                    <a:pt x="0" y="180848"/>
                    <a:pt x="180848" y="0"/>
                    <a:pt x="403860" y="0"/>
                  </a:cubicBezTo>
                  <a:lnTo>
                    <a:pt x="6479540" y="0"/>
                  </a:lnTo>
                  <a:cubicBezTo>
                    <a:pt x="6702552" y="0"/>
                    <a:pt x="6883400" y="180848"/>
                    <a:pt x="6883400" y="403860"/>
                  </a:cubicBezTo>
                  <a:lnTo>
                    <a:pt x="6883400" y="7576820"/>
                  </a:lnTo>
                  <a:cubicBezTo>
                    <a:pt x="6883400" y="7799832"/>
                    <a:pt x="6702552" y="7980680"/>
                    <a:pt x="6479540" y="7980680"/>
                  </a:cubicBezTo>
                  <a:lnTo>
                    <a:pt x="403860" y="7980680"/>
                  </a:lnTo>
                  <a:cubicBezTo>
                    <a:pt x="180848" y="7980680"/>
                    <a:pt x="0" y="7799832"/>
                    <a:pt x="0" y="75768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95160" y="3497580"/>
            <a:ext cx="4114800" cy="480060"/>
            <a:chOff x="0" y="0"/>
            <a:chExt cx="54864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지우의 요즘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85635" y="4311015"/>
            <a:ext cx="787146" cy="787146"/>
            <a:chOff x="0" y="0"/>
            <a:chExt cx="1049528" cy="10495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187184" y="4512564"/>
            <a:ext cx="384048" cy="384048"/>
            <a:chOff x="0" y="0"/>
            <a:chExt cx="512064" cy="512064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955280" y="4471416"/>
            <a:ext cx="3566160" cy="466344"/>
            <a:chOff x="0" y="0"/>
            <a:chExt cx="4754880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621792"/>
            </a:xfrm>
            <a:custGeom>
              <a:avLst/>
              <a:gdLst/>
              <a:ahLst/>
              <a:cxnLst/>
              <a:rect r="r" b="b" t="t" l="l"/>
              <a:pathLst>
                <a:path h="621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퇴근하면 아무것도 하기 싫다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85635" y="5476875"/>
            <a:ext cx="787146" cy="787146"/>
            <a:chOff x="0" y="0"/>
            <a:chExt cx="1049528" cy="10495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187184" y="5678424"/>
            <a:ext cx="384048" cy="384048"/>
            <a:chOff x="0" y="0"/>
            <a:chExt cx="512064" cy="512064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955280" y="5637276"/>
            <a:ext cx="3566160" cy="466344"/>
            <a:chOff x="0" y="0"/>
            <a:chExt cx="4754880" cy="6217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0" cy="621792"/>
            </a:xfrm>
            <a:custGeom>
              <a:avLst/>
              <a:gdLst/>
              <a:ahLst/>
              <a:cxnLst/>
              <a:rect r="r" b="b" t="t" l="l"/>
              <a:pathLst>
                <a:path h="621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주말엔 하루 종일 누워 있다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985635" y="6642735"/>
            <a:ext cx="787146" cy="787146"/>
            <a:chOff x="0" y="0"/>
            <a:chExt cx="1049528" cy="10495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187184" y="6844284"/>
            <a:ext cx="384048" cy="384048"/>
            <a:chOff x="0" y="0"/>
            <a:chExt cx="512064" cy="512064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955280" y="6624828"/>
            <a:ext cx="3566160" cy="466344"/>
            <a:chOff x="0" y="0"/>
            <a:chExt cx="4754880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54880" cy="621792"/>
            </a:xfrm>
            <a:custGeom>
              <a:avLst/>
              <a:gdLst/>
              <a:ahLst/>
              <a:cxnLst/>
              <a:rect r="r" b="b" t="t" l="l"/>
              <a:pathLst>
                <a:path h="621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상담을 검색해 봤다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955280" y="7063740"/>
            <a:ext cx="3566160" cy="384048"/>
            <a:chOff x="0" y="0"/>
            <a:chExt cx="4754880" cy="5120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54880" cy="512064"/>
            </a:xfrm>
            <a:custGeom>
              <a:avLst/>
              <a:gdLst/>
              <a:ahLst/>
              <a:cxnLst/>
              <a:rect r="r" b="b" t="t" l="l"/>
              <a:pathLst>
                <a:path h="51206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7548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A0927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✕ 예약은 안 함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985635" y="7808595"/>
            <a:ext cx="787146" cy="787146"/>
            <a:chOff x="0" y="0"/>
            <a:chExt cx="1049528" cy="10495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187184" y="8010144"/>
            <a:ext cx="384048" cy="384048"/>
            <a:chOff x="0" y="0"/>
            <a:chExt cx="512064" cy="512064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955280" y="7790688"/>
            <a:ext cx="3566160" cy="466344"/>
            <a:chOff x="0" y="0"/>
            <a:chExt cx="4754880" cy="621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621792"/>
            </a:xfrm>
            <a:custGeom>
              <a:avLst/>
              <a:gdLst/>
              <a:ahLst/>
              <a:cxnLst/>
              <a:rect r="r" b="b" t="t" l="l"/>
              <a:pathLst>
                <a:path h="621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003" r="0" b="-9900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47548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인스타 심리테스트는 바로 한다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955280" y="8229600"/>
            <a:ext cx="3566160" cy="384048"/>
            <a:chOff x="0" y="0"/>
            <a:chExt cx="475488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54880" cy="512064"/>
            </a:xfrm>
            <a:custGeom>
              <a:avLst/>
              <a:gdLst/>
              <a:ahLst/>
              <a:cxnLst/>
              <a:rect r="r" b="b" t="t" l="l"/>
              <a:pathLst>
                <a:path h="51206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7548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○ 부담 없음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138660" y="3154680"/>
            <a:ext cx="5074920" cy="480060"/>
            <a:chOff x="0" y="0"/>
            <a:chExt cx="6766560" cy="6400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66560" cy="640080"/>
            </a:xfrm>
            <a:custGeom>
              <a:avLst/>
              <a:gdLst/>
              <a:ahLst/>
              <a:cxnLst/>
              <a:rect r="r" b="b" t="t" l="l"/>
              <a:pathLst>
                <a:path h="6400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7665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지우에게 필요한 것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129135" y="3830955"/>
            <a:ext cx="5093970" cy="1596390"/>
            <a:chOff x="0" y="0"/>
            <a:chExt cx="6791960" cy="2128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919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6791960">
                  <a:moveTo>
                    <a:pt x="0" y="370205"/>
                  </a:moveTo>
                  <a:cubicBezTo>
                    <a:pt x="0" y="165735"/>
                    <a:pt x="165735" y="0"/>
                    <a:pt x="370205" y="0"/>
                  </a:cubicBezTo>
                  <a:lnTo>
                    <a:pt x="6421755" y="0"/>
                  </a:lnTo>
                  <a:cubicBezTo>
                    <a:pt x="6626225" y="0"/>
                    <a:pt x="6791960" y="165735"/>
                    <a:pt x="6791960" y="370205"/>
                  </a:cubicBezTo>
                  <a:lnTo>
                    <a:pt x="6791960" y="1758315"/>
                  </a:lnTo>
                  <a:cubicBezTo>
                    <a:pt x="6791960" y="1962785"/>
                    <a:pt x="6626225" y="2128520"/>
                    <a:pt x="6421755" y="2128520"/>
                  </a:cubicBezTo>
                  <a:lnTo>
                    <a:pt x="370205" y="2128520"/>
                  </a:lnTo>
                  <a:cubicBezTo>
                    <a:pt x="165735" y="2128520"/>
                    <a:pt x="0" y="1962785"/>
                    <a:pt x="0" y="1758315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412980" y="3840480"/>
            <a:ext cx="548640" cy="1577340"/>
            <a:chOff x="0" y="0"/>
            <a:chExt cx="731520" cy="2103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872" t="0" r="-31887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73152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B5A68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✕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961620" y="3840480"/>
            <a:ext cx="4114800" cy="1577340"/>
            <a:chOff x="0" y="0"/>
            <a:chExt cx="5486400" cy="2103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864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548640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trike="sngStrik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“당신은 우울 위험군입니다”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129135" y="5682615"/>
            <a:ext cx="5093970" cy="3448050"/>
            <a:chOff x="0" y="0"/>
            <a:chExt cx="6791960" cy="4597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791960" cy="4597400"/>
            </a:xfrm>
            <a:custGeom>
              <a:avLst/>
              <a:gdLst/>
              <a:ahLst/>
              <a:cxnLst/>
              <a:rect r="r" b="b" t="t" l="l"/>
              <a:pathLst>
                <a:path h="4597400" w="6791960">
                  <a:moveTo>
                    <a:pt x="0" y="367792"/>
                  </a:moveTo>
                  <a:cubicBezTo>
                    <a:pt x="0" y="164719"/>
                    <a:pt x="164719" y="0"/>
                    <a:pt x="367792" y="0"/>
                  </a:cubicBezTo>
                  <a:lnTo>
                    <a:pt x="6424168" y="0"/>
                  </a:lnTo>
                  <a:cubicBezTo>
                    <a:pt x="6627241" y="0"/>
                    <a:pt x="6791960" y="164719"/>
                    <a:pt x="6791960" y="367792"/>
                  </a:cubicBezTo>
                  <a:lnTo>
                    <a:pt x="6791960" y="4229608"/>
                  </a:lnTo>
                  <a:cubicBezTo>
                    <a:pt x="6791960" y="4432681"/>
                    <a:pt x="6627241" y="4597400"/>
                    <a:pt x="6424168" y="4597400"/>
                  </a:cubicBezTo>
                  <a:lnTo>
                    <a:pt x="367792" y="4597400"/>
                  </a:lnTo>
                  <a:cubicBezTo>
                    <a:pt x="164719" y="4597400"/>
                    <a:pt x="0" y="4432681"/>
                    <a:pt x="0" y="4229608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412980" y="5966460"/>
            <a:ext cx="548640" cy="548640"/>
            <a:chOff x="0" y="0"/>
            <a:chExt cx="7315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7A5A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961620" y="5966460"/>
            <a:ext cx="4114800" cy="548640"/>
            <a:chOff x="0" y="0"/>
            <a:chExt cx="548640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5486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“오늘 이런 마음이었구나”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412980" y="6981444"/>
            <a:ext cx="548640" cy="548640"/>
            <a:chOff x="0" y="0"/>
            <a:chExt cx="73152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7A5A2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961620" y="6926580"/>
            <a:ext cx="4114800" cy="1028700"/>
            <a:chOff x="0" y="0"/>
            <a:chExt cx="5486400" cy="1371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486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54864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“비슷한 마음을 가진 사람이</a:t>
              </a:r>
            </a:p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이런 편지를 받았어요”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412980" y="8298180"/>
            <a:ext cx="4526280" cy="480060"/>
            <a:chOff x="0" y="0"/>
            <a:chExt cx="6035040" cy="640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9525"/>
              <a:ext cx="603504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5A20"/>
                  </a:solidFill>
                  <a:latin typeface="Noto Sans"/>
                  <a:ea typeface="Noto Sans"/>
                  <a:cs typeface="Noto Sans"/>
                  <a:sym typeface="Noto Sans"/>
                </a:rPr>
                <a:t>진단이 아닌, 작은 확인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3772" y="411480"/>
            <a:ext cx="8229600" cy="480060"/>
            <a:chOff x="0" y="0"/>
            <a:chExt cx="109728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6"/>
                </a:lnSpc>
              </a:pPr>
              <a:r>
                <a:rPr lang="en-US" b="true" sz="1730" spc="786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TARGET  ·  PERSONA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33520" y="9601200"/>
            <a:ext cx="822960" cy="411480"/>
            <a:chOff x="0" y="0"/>
            <a:chExt cx="109728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07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1245870"/>
            <a:ext cx="16092983" cy="73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4499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지우만의 이야기가 아닙니다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1600" y="2084832"/>
            <a:ext cx="15544343" cy="480060"/>
            <a:chOff x="0" y="0"/>
            <a:chExt cx="2072579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25791" cy="640080"/>
            </a:xfrm>
            <a:custGeom>
              <a:avLst/>
              <a:gdLst/>
              <a:ahLst/>
              <a:cxnLst/>
              <a:rect r="r" b="b" t="t" l="l"/>
              <a:pathLst>
                <a:path h="64008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925" r="0" b="-5809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72579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온기레터 164편에 가장 많이 도착한 고민으로 그려본 세 명의 인물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07666" y="3200019"/>
            <a:ext cx="2625090" cy="512826"/>
            <a:chOff x="0" y="0"/>
            <a:chExt cx="3500120" cy="6837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00120" cy="683768"/>
            </a:xfrm>
            <a:custGeom>
              <a:avLst/>
              <a:gdLst/>
              <a:ahLst/>
              <a:cxnLst/>
              <a:rect r="r" b="b" t="t" l="l"/>
              <a:pathLst>
                <a:path h="683768" w="35001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217191" y="3209544"/>
            <a:ext cx="2606040" cy="493776"/>
            <a:chOff x="0" y="0"/>
            <a:chExt cx="3474720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자존감·비교  16%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5621" y="3826764"/>
            <a:ext cx="4869180" cy="987552"/>
            <a:chOff x="0" y="0"/>
            <a:chExt cx="649224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“자꾸 다른 사람과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나를 비교하게 돼요”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6096" y="5257419"/>
            <a:ext cx="4888230" cy="2145030"/>
            <a:chOff x="0" y="0"/>
            <a:chExt cx="6517640" cy="286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176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5176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805836" y="4758309"/>
            <a:ext cx="1428750" cy="1428750"/>
            <a:chOff x="0" y="0"/>
            <a:chExt cx="1905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944139" y="4896612"/>
            <a:ext cx="1152144" cy="1152144"/>
            <a:chOff x="0" y="0"/>
            <a:chExt cx="1536192" cy="1536192"/>
          </a:xfrm>
        </p:grpSpPr>
        <p:sp>
          <p:nvSpPr>
            <p:cNvPr name="Freeform 26" id="26" descr="/home/claude/build/img/av_seoyeon2.png"/>
            <p:cNvSpPr/>
            <p:nvPr/>
          </p:nvSpPr>
          <p:spPr>
            <a:xfrm flipH="false" flipV="false" rot="0">
              <a:off x="0" y="0"/>
              <a:ext cx="1536192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821963" y="5678424"/>
            <a:ext cx="521208" cy="521208"/>
            <a:chOff x="0" y="0"/>
            <a:chExt cx="694944" cy="694944"/>
          </a:xfrm>
        </p:grpSpPr>
        <p:sp>
          <p:nvSpPr>
            <p:cNvPr name="Freeform 28" id="28" descr="/home/claude/build/img/av_b_tear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85621" y="6227064"/>
            <a:ext cx="4869180" cy="384048"/>
            <a:chOff x="0" y="0"/>
            <a:chExt cx="649224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정서연 · 24 · 취업준비생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1361" y="6597396"/>
            <a:ext cx="4457700" cy="713232"/>
            <a:chOff x="0" y="0"/>
            <a:chExt cx="5943600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950976"/>
            </a:xfrm>
            <a:custGeom>
              <a:avLst/>
              <a:gdLst/>
              <a:ahLst/>
              <a:cxnLst/>
              <a:rect r="r" b="b" t="t" l="l"/>
              <a:pathLst>
                <a:path h="95097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친구들 합격 소식엔 축하를 보내지만,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정작 내 얘기는 꺼내지 못해요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5621" y="7447788"/>
            <a:ext cx="4869180" cy="356616"/>
            <a:chOff x="0" y="0"/>
            <a:chExt cx="6492240" cy="4754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92240" cy="475488"/>
            </a:xfrm>
            <a:custGeom>
              <a:avLst/>
              <a:gdLst/>
              <a:ahLst/>
              <a:cxnLst/>
              <a:rect r="r" b="b" t="t" l="l"/>
              <a:pathLst>
                <a:path h="475488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045" r="0" b="-2160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6096" y="7822311"/>
            <a:ext cx="4888230" cy="1143762"/>
            <a:chOff x="0" y="0"/>
            <a:chExt cx="6517640" cy="15250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17640" cy="1525016"/>
            </a:xfrm>
            <a:custGeom>
              <a:avLst/>
              <a:gdLst/>
              <a:ahLst/>
              <a:cxnLst/>
              <a:rect r="r" b="b" t="t" l="l"/>
              <a:pathLst>
                <a:path h="1525016" w="6517640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85621" y="7831836"/>
            <a:ext cx="4869180" cy="1124712"/>
            <a:chOff x="0" y="0"/>
            <a:chExt cx="6492240" cy="14996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92240" cy="1499616"/>
            </a:xfrm>
            <a:custGeom>
              <a:avLst/>
              <a:gdLst/>
              <a:ahLst/>
              <a:cxnLst/>
              <a:rect r="r" b="b" t="t" l="l"/>
              <a:pathLst>
                <a:path h="14996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55" r="0" b="-343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#나만 그런 게 아니라는 확인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#비교 없는 조용한 공간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31226" y="3200019"/>
            <a:ext cx="2625090" cy="512826"/>
            <a:chOff x="0" y="0"/>
            <a:chExt cx="3500120" cy="6837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00120" cy="683768"/>
            </a:xfrm>
            <a:custGeom>
              <a:avLst/>
              <a:gdLst/>
              <a:ahLst/>
              <a:cxnLst/>
              <a:rect r="r" b="b" t="t" l="l"/>
              <a:pathLst>
                <a:path h="683768" w="35001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840751" y="3209544"/>
            <a:ext cx="2606040" cy="493776"/>
            <a:chOff x="0" y="0"/>
            <a:chExt cx="3474720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일·진로  16%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709181" y="3826764"/>
            <a:ext cx="4869180" cy="987552"/>
            <a:chOff x="0" y="0"/>
            <a:chExt cx="649224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“열심히 하는데 잘하고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있는지 모르겠어요”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99656" y="5257419"/>
            <a:ext cx="4888230" cy="2145030"/>
            <a:chOff x="0" y="0"/>
            <a:chExt cx="6517640" cy="2860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176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5176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429396" y="4758309"/>
            <a:ext cx="1428750" cy="1428750"/>
            <a:chOff x="0" y="0"/>
            <a:chExt cx="1905000" cy="1905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567699" y="4896612"/>
            <a:ext cx="1152144" cy="1152144"/>
            <a:chOff x="0" y="0"/>
            <a:chExt cx="1536192" cy="1536192"/>
          </a:xfrm>
        </p:grpSpPr>
        <p:sp>
          <p:nvSpPr>
            <p:cNvPr name="Freeform 56" id="56" descr="/home/claude/build/img/av_jiwoo.png"/>
            <p:cNvSpPr/>
            <p:nvPr/>
          </p:nvSpPr>
          <p:spPr>
            <a:xfrm flipH="false" flipV="false" rot="0">
              <a:off x="0" y="0"/>
              <a:ext cx="1536192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445523" y="5678424"/>
            <a:ext cx="521208" cy="521208"/>
            <a:chOff x="0" y="0"/>
            <a:chExt cx="694944" cy="694944"/>
          </a:xfrm>
        </p:grpSpPr>
        <p:sp>
          <p:nvSpPr>
            <p:cNvPr name="Freeform 58" id="58" descr="/home/claude/build/img/av_b_sigh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709181" y="6227064"/>
            <a:ext cx="4869180" cy="384048"/>
            <a:chOff x="0" y="0"/>
            <a:chExt cx="6492240" cy="5120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한지우 · 27 · 직장 2년 차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14921" y="6597396"/>
            <a:ext cx="4457700" cy="713232"/>
            <a:chOff x="0" y="0"/>
            <a:chExt cx="5943600" cy="9509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950976"/>
            </a:xfrm>
            <a:custGeom>
              <a:avLst/>
              <a:gdLst/>
              <a:ahLst/>
              <a:cxnLst/>
              <a:rect r="r" b="b" t="t" l="l"/>
              <a:pathLst>
                <a:path h="95097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퇴근하면 아무것도 하기 싫지만,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괜찮냐는 말엔 “다 그렇지 뭐”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09181" y="7447788"/>
            <a:ext cx="4869180" cy="356616"/>
            <a:chOff x="0" y="0"/>
            <a:chExt cx="6492240" cy="475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92240" cy="475488"/>
            </a:xfrm>
            <a:custGeom>
              <a:avLst/>
              <a:gdLst/>
              <a:ahLst/>
              <a:cxnLst/>
              <a:rect r="r" b="b" t="t" l="l"/>
              <a:pathLst>
                <a:path h="475488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045" r="0" b="-21604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699656" y="7822311"/>
            <a:ext cx="4888230" cy="1143762"/>
            <a:chOff x="0" y="0"/>
            <a:chExt cx="6517640" cy="15250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17640" cy="1525016"/>
            </a:xfrm>
            <a:custGeom>
              <a:avLst/>
              <a:gdLst/>
              <a:ahLst/>
              <a:cxnLst/>
              <a:rect r="r" b="b" t="t" l="l"/>
              <a:pathLst>
                <a:path h="1525016" w="6517640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709181" y="7831836"/>
            <a:ext cx="4869180" cy="1124712"/>
            <a:chOff x="0" y="0"/>
            <a:chExt cx="6492240" cy="14996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92240" cy="1499616"/>
            </a:xfrm>
            <a:custGeom>
              <a:avLst/>
              <a:gdLst/>
              <a:ahLst/>
              <a:cxnLst/>
              <a:rect r="r" b="b" t="t" l="l"/>
              <a:pathLst>
                <a:path h="14996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55" r="0" b="-343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#진단 말고 가벼운 안부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#부담 없는 첫걸음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454786" y="3200019"/>
            <a:ext cx="2625090" cy="512826"/>
            <a:chOff x="0" y="0"/>
            <a:chExt cx="3500120" cy="6837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00120" cy="683768"/>
            </a:xfrm>
            <a:custGeom>
              <a:avLst/>
              <a:gdLst/>
              <a:ahLst/>
              <a:cxnLst/>
              <a:rect r="r" b="b" t="t" l="l"/>
              <a:pathLst>
                <a:path h="683768" w="35001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1CC"/>
            </a:solidFill>
            <a:ln w="19050" cap="sq">
              <a:solidFill>
                <a:srgbClr val="FFF1CC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464311" y="3209544"/>
            <a:ext cx="2606040" cy="493776"/>
            <a:chOff x="0" y="0"/>
            <a:chExt cx="3474720" cy="658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연애·결혼  12%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32741" y="3826764"/>
            <a:ext cx="4869180" cy="987552"/>
            <a:chOff x="0" y="0"/>
            <a:chExt cx="6492240" cy="13167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92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649224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“끝난 관계인데도</a:t>
              </a:r>
            </a:p>
            <a:p>
              <a:pPr algn="ctr">
                <a:lnSpc>
                  <a:spcPts val="2835"/>
                </a:lnSpc>
              </a:pPr>
              <a:r>
                <a:rPr lang="en-US" sz="225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자꾸 생각나요”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23216" y="5257419"/>
            <a:ext cx="4888230" cy="2145030"/>
            <a:chOff x="0" y="0"/>
            <a:chExt cx="6517640" cy="28600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176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517640">
                  <a:moveTo>
                    <a:pt x="0" y="332105"/>
                  </a:moveTo>
                  <a:cubicBezTo>
                    <a:pt x="0" y="148717"/>
                    <a:pt x="148717" y="0"/>
                    <a:pt x="332105" y="0"/>
                  </a:cubicBezTo>
                  <a:lnTo>
                    <a:pt x="6185535" y="0"/>
                  </a:lnTo>
                  <a:cubicBezTo>
                    <a:pt x="6368923" y="0"/>
                    <a:pt x="6517640" y="148717"/>
                    <a:pt x="6517640" y="332105"/>
                  </a:cubicBezTo>
                  <a:lnTo>
                    <a:pt x="6517640" y="2527935"/>
                  </a:lnTo>
                  <a:cubicBezTo>
                    <a:pt x="6517640" y="2711323"/>
                    <a:pt x="6368923" y="2860040"/>
                    <a:pt x="6185535" y="2860040"/>
                  </a:cubicBezTo>
                  <a:lnTo>
                    <a:pt x="332105" y="2860040"/>
                  </a:lnTo>
                  <a:cubicBezTo>
                    <a:pt x="148717" y="2860040"/>
                    <a:pt x="0" y="2711323"/>
                    <a:pt x="0" y="25279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4052956" y="4758309"/>
            <a:ext cx="1428750" cy="1428750"/>
            <a:chOff x="0" y="0"/>
            <a:chExt cx="1905000" cy="1905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952500"/>
                  </a:moveTo>
                  <a:cubicBezTo>
                    <a:pt x="0" y="426466"/>
                    <a:pt x="426466" y="0"/>
                    <a:pt x="952500" y="0"/>
                  </a:cubicBezTo>
                  <a:cubicBezTo>
                    <a:pt x="1478534" y="0"/>
                    <a:pt x="1905000" y="426466"/>
                    <a:pt x="1905000" y="952500"/>
                  </a:cubicBezTo>
                  <a:cubicBezTo>
                    <a:pt x="1905000" y="1478534"/>
                    <a:pt x="1478534" y="1905000"/>
                    <a:pt x="952500" y="1905000"/>
                  </a:cubicBezTo>
                  <a:cubicBezTo>
                    <a:pt x="426466" y="1905000"/>
                    <a:pt x="0" y="1478534"/>
                    <a:pt x="0" y="952500"/>
                  </a:cubicBezTo>
                  <a:close/>
                </a:path>
              </a:pathLst>
            </a:custGeom>
            <a:solidFill>
              <a:srgbClr val="F3E7C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191259" y="4896612"/>
            <a:ext cx="1152144" cy="1152144"/>
            <a:chOff x="0" y="0"/>
            <a:chExt cx="1536192" cy="1536192"/>
          </a:xfrm>
        </p:grpSpPr>
        <p:sp>
          <p:nvSpPr>
            <p:cNvPr name="Freeform 86" id="86" descr="/home/claude/build/img/av_doyoon.png"/>
            <p:cNvSpPr/>
            <p:nvPr/>
          </p:nvSpPr>
          <p:spPr>
            <a:xfrm flipH="false" flipV="false" rot="0">
              <a:off x="0" y="0"/>
              <a:ext cx="1536192" cy="1536192"/>
            </a:xfrm>
            <a:custGeom>
              <a:avLst/>
              <a:gdLst/>
              <a:ahLst/>
              <a:cxnLst/>
              <a:rect r="r" b="b" t="t" l="l"/>
              <a:pathLst>
                <a:path h="1536192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5069083" y="5678424"/>
            <a:ext cx="521208" cy="521208"/>
            <a:chOff x="0" y="0"/>
            <a:chExt cx="694944" cy="694944"/>
          </a:xfrm>
        </p:grpSpPr>
        <p:sp>
          <p:nvSpPr>
            <p:cNvPr name="Freeform 88" id="88" descr="/home/claude/build/img/av_b_sa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332741" y="6227064"/>
            <a:ext cx="4869180" cy="384048"/>
            <a:chOff x="0" y="0"/>
            <a:chExt cx="6492240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92240" cy="512064"/>
            </a:xfrm>
            <a:custGeom>
              <a:avLst/>
              <a:gdLst/>
              <a:ahLst/>
              <a:cxnLst/>
              <a:rect r="r" b="b" t="t" l="l"/>
              <a:pathLst>
                <a:path h="51206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64922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김도윤 · 31 · 이별 석 달 차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538481" y="6597396"/>
            <a:ext cx="4457700" cy="713232"/>
            <a:chOff x="0" y="0"/>
            <a:chExt cx="5943600" cy="95097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943600" cy="950976"/>
            </a:xfrm>
            <a:custGeom>
              <a:avLst/>
              <a:gdLst/>
              <a:ahLst/>
              <a:cxnLst/>
              <a:rect r="r" b="b" t="t" l="l"/>
              <a:pathLst>
                <a:path h="95097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94360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이제 그만 잊으라는 말에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누구에게도 제대로 말하지 못했어요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32741" y="7447788"/>
            <a:ext cx="4869180" cy="356616"/>
            <a:chOff x="0" y="0"/>
            <a:chExt cx="6492240" cy="47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92240" cy="475488"/>
            </a:xfrm>
            <a:custGeom>
              <a:avLst/>
              <a:gdLst/>
              <a:ahLst/>
              <a:cxnLst/>
              <a:rect r="r" b="b" t="t" l="l"/>
              <a:pathLst>
                <a:path h="475488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045" r="0" b="-21604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6492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B97800"/>
                  </a:solidFill>
                  <a:latin typeface="Noto Sans"/>
                  <a:ea typeface="Noto Sans"/>
                  <a:cs typeface="Noto Sans"/>
                  <a:sym typeface="Noto Sans"/>
                </a:rPr>
                <a:t>▼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323216" y="7822311"/>
            <a:ext cx="4888230" cy="1143762"/>
            <a:chOff x="0" y="0"/>
            <a:chExt cx="6517640" cy="15250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517640" cy="1525016"/>
            </a:xfrm>
            <a:custGeom>
              <a:avLst/>
              <a:gdLst/>
              <a:ahLst/>
              <a:cxnLst/>
              <a:rect r="r" b="b" t="t" l="l"/>
              <a:pathLst>
                <a:path h="1525016" w="6517640">
                  <a:moveTo>
                    <a:pt x="0" y="297561"/>
                  </a:moveTo>
                  <a:cubicBezTo>
                    <a:pt x="0" y="133223"/>
                    <a:pt x="133223" y="0"/>
                    <a:pt x="297561" y="0"/>
                  </a:cubicBezTo>
                  <a:lnTo>
                    <a:pt x="6220079" y="0"/>
                  </a:lnTo>
                  <a:cubicBezTo>
                    <a:pt x="6384417" y="0"/>
                    <a:pt x="6517640" y="133223"/>
                    <a:pt x="6517640" y="297561"/>
                  </a:cubicBezTo>
                  <a:lnTo>
                    <a:pt x="6517640" y="1227455"/>
                  </a:lnTo>
                  <a:cubicBezTo>
                    <a:pt x="6517640" y="1391793"/>
                    <a:pt x="6384417" y="1525016"/>
                    <a:pt x="6220079" y="1525016"/>
                  </a:cubicBezTo>
                  <a:lnTo>
                    <a:pt x="297561" y="1525016"/>
                  </a:lnTo>
                  <a:cubicBezTo>
                    <a:pt x="133223" y="1525016"/>
                    <a:pt x="0" y="1391793"/>
                    <a:pt x="0" y="1227455"/>
                  </a:cubicBezTo>
                  <a:close/>
                </a:path>
              </a:pathLst>
            </a:custGeom>
            <a:solidFill>
              <a:srgbClr val="F5C83A"/>
            </a:solidFill>
            <a:ln w="19050" cap="sq">
              <a:solidFill>
                <a:srgbClr val="F5C83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332741" y="7831836"/>
            <a:ext cx="4869180" cy="1124712"/>
            <a:chOff x="0" y="0"/>
            <a:chExt cx="6492240" cy="14996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92240" cy="1499616"/>
            </a:xfrm>
            <a:custGeom>
              <a:avLst/>
              <a:gdLst/>
              <a:ahLst/>
              <a:cxnLst/>
              <a:rect r="r" b="b" t="t" l="l"/>
              <a:pathLst>
                <a:path h="14996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55" r="0" b="-3435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649224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#말하지 않아도 되는 위로</a:t>
              </a:r>
            </a:p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#언젠가 꺼낼 수 있는 곳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601200"/>
            <a:ext cx="15361920" cy="411480"/>
            <a:chOff x="0" y="0"/>
            <a:chExt cx="20482560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0482561" cy="548640"/>
            </a:xfrm>
            <a:custGeom>
              <a:avLst/>
              <a:gdLst/>
              <a:ahLst/>
              <a:cxnLst/>
              <a:rect r="r" b="b" t="t" l="l"/>
              <a:pathLst>
                <a:path h="5486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7441" r="0" b="-67744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204825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가상 페르소나 · 고민 비율: 온기레터 공개 아카이브(2022.7~2026.8) 164편 제목 기준 팀 자체 분류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8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0" y="-1524000"/>
            <a:ext cx="13335000" cy="13335000"/>
            <a:chOff x="0" y="0"/>
            <a:chExt cx="17780000" cy="1778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00" cy="17780000"/>
            </a:xfrm>
            <a:custGeom>
              <a:avLst/>
              <a:gdLst/>
              <a:ahLst/>
              <a:cxnLst/>
              <a:rect r="r" b="b" t="t" l="l"/>
              <a:pathLst>
                <a:path h="17780000" w="17780000">
                  <a:moveTo>
                    <a:pt x="0" y="8890000"/>
                  </a:moveTo>
                  <a:cubicBezTo>
                    <a:pt x="0" y="3980180"/>
                    <a:pt x="3980180" y="0"/>
                    <a:pt x="8890000" y="0"/>
                  </a:cubicBezTo>
                  <a:cubicBezTo>
                    <a:pt x="13799820" y="0"/>
                    <a:pt x="17780000" y="3980180"/>
                    <a:pt x="17780000" y="8890000"/>
                  </a:cubicBezTo>
                  <a:cubicBezTo>
                    <a:pt x="17780000" y="13799820"/>
                    <a:pt x="13799820" y="17780000"/>
                    <a:pt x="8890000" y="17780000"/>
                  </a:cubicBezTo>
                  <a:cubicBezTo>
                    <a:pt x="3980180" y="17780000"/>
                    <a:pt x="0" y="13799820"/>
                    <a:pt x="0" y="8890000"/>
                  </a:cubicBezTo>
                  <a:close/>
                </a:path>
              </a:pathLst>
            </a:custGeom>
            <a:solidFill>
              <a:srgbClr val="FBE18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25250" y="381000"/>
            <a:ext cx="10096500" cy="10096500"/>
            <a:chOff x="0" y="0"/>
            <a:chExt cx="13462000" cy="1346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13462000"/>
            </a:xfrm>
            <a:custGeom>
              <a:avLst/>
              <a:gdLst/>
              <a:ahLst/>
              <a:cxnLst/>
              <a:rect r="r" b="b" t="t" l="l"/>
              <a:pathLst>
                <a:path h="13462000" w="13462000">
                  <a:moveTo>
                    <a:pt x="0" y="6731000"/>
                  </a:moveTo>
                  <a:cubicBezTo>
                    <a:pt x="0" y="3013583"/>
                    <a:pt x="3013583" y="0"/>
                    <a:pt x="6731000" y="0"/>
                  </a:cubicBezTo>
                  <a:cubicBezTo>
                    <a:pt x="10448417" y="0"/>
                    <a:pt x="13462000" y="3013583"/>
                    <a:pt x="13462000" y="6731000"/>
                  </a:cubicBezTo>
                  <a:cubicBezTo>
                    <a:pt x="13462000" y="10448417"/>
                    <a:pt x="10448417" y="13462000"/>
                    <a:pt x="6731000" y="13462000"/>
                  </a:cubicBezTo>
                  <a:cubicBezTo>
                    <a:pt x="3013583" y="13462000"/>
                    <a:pt x="0" y="10448417"/>
                    <a:pt x="0" y="6731000"/>
                  </a:cubicBezTo>
                  <a:close/>
                </a:path>
              </a:pathLst>
            </a:custGeom>
            <a:solidFill>
              <a:srgbClr val="FBE18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28750" y="876300"/>
            <a:ext cx="3810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675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0650" y="1419225"/>
            <a:ext cx="8801100" cy="378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6"/>
              </a:lnSpc>
            </a:pPr>
            <a:r>
              <a:rPr lang="en-US" sz="780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그래서,</a:t>
            </a:r>
          </a:p>
          <a:p>
            <a:pPr algn="l">
              <a:lnSpc>
                <a:spcPts val="9516"/>
              </a:lnSpc>
            </a:pPr>
            <a:r>
              <a:rPr lang="en-US" sz="780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ON LETTER가</a:t>
            </a:r>
          </a:p>
          <a:p>
            <a:pPr algn="l">
              <a:lnSpc>
                <a:spcPts val="9516"/>
              </a:lnSpc>
            </a:pPr>
            <a:r>
              <a:rPr lang="en-US" sz="7800">
                <a:solidFill>
                  <a:srgbClr val="2F2A24"/>
                </a:solidFill>
                <a:latin typeface="Jua"/>
                <a:ea typeface="Jua"/>
                <a:cs typeface="Jua"/>
                <a:sym typeface="Jua"/>
              </a:rPr>
              <a:t>마음의 문을 열어줍니다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5562600"/>
            <a:ext cx="5032375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On Letter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7800" y="6705600"/>
            <a:ext cx="8572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5A3D0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3분 동안 가볍게 내 마음을 돌아보면,</a:t>
            </a:r>
          </a:p>
          <a:p>
            <a:pPr algn="l">
              <a:lnSpc>
                <a:spcPts val="3360"/>
              </a:lnSpc>
            </a:pPr>
            <a:r>
              <a:rPr lang="en-US" sz="2100" b="true">
                <a:solidFill>
                  <a:srgbClr val="5A3D0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지금의 나와 닮은 실제 온기 편지 한 통이 먼저 도착합니다</a:t>
            </a:r>
          </a:p>
        </p:txBody>
      </p:sp>
      <p:sp>
        <p:nvSpPr>
          <p:cNvPr name="AutoShape 10" id="10"/>
          <p:cNvSpPr/>
          <p:nvPr/>
        </p:nvSpPr>
        <p:spPr>
          <a:xfrm rot="12239">
            <a:off x="1623984" y="8777288"/>
            <a:ext cx="8029623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8750" y="8572500"/>
            <a:ext cx="419100" cy="419100"/>
            <a:chOff x="0" y="0"/>
            <a:chExt cx="5588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28750" y="8572500"/>
            <a:ext cx="419100" cy="419100"/>
            <a:chOff x="0" y="0"/>
            <a:chExt cx="5588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28750" y="9144000"/>
            <a:ext cx="1905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SNS · QR에서 발견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381375" y="8572500"/>
            <a:ext cx="419100" cy="419100"/>
            <a:chOff x="0" y="0"/>
            <a:chExt cx="5588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381375" y="8572500"/>
            <a:ext cx="419100" cy="419100"/>
            <a:chOff x="0" y="0"/>
            <a:chExt cx="558800" cy="55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381375" y="9144000"/>
            <a:ext cx="1905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3분 마음 질문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76850" y="8515350"/>
            <a:ext cx="533400" cy="533400"/>
            <a:chOff x="0" y="0"/>
            <a:chExt cx="7112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34000" y="8572500"/>
            <a:ext cx="419100" cy="419100"/>
            <a:chOff x="0" y="0"/>
            <a:chExt cx="558800" cy="55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34000" y="8572500"/>
            <a:ext cx="419100" cy="419100"/>
            <a:chOff x="0" y="0"/>
            <a:chExt cx="558800" cy="55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334000" y="9144000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위로</a:t>
            </a:r>
            <a:r>
              <a:rPr lang="en-US" sz="1575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편지 도착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286625" y="8572500"/>
            <a:ext cx="419100" cy="419100"/>
            <a:chOff x="0" y="0"/>
            <a:chExt cx="558800" cy="55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FDECB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86625" y="8572500"/>
            <a:ext cx="419100" cy="419100"/>
            <a:chOff x="0" y="0"/>
            <a:chExt cx="558800" cy="55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8A5A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86625" y="9144000"/>
            <a:ext cx="1905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오목이와 일상 돌봄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39250" y="8572500"/>
            <a:ext cx="419100" cy="419100"/>
            <a:chOff x="0" y="0"/>
            <a:chExt cx="558800" cy="55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2F2A2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39250" y="8572500"/>
            <a:ext cx="419100" cy="419100"/>
            <a:chOff x="0" y="0"/>
            <a:chExt cx="558800" cy="55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5588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CE8A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239250" y="9144000"/>
            <a:ext cx="1905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F2A2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준비되면 온기로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382500" y="666750"/>
            <a:ext cx="4432249" cy="9048750"/>
            <a:chOff x="0" y="0"/>
            <a:chExt cx="5909666" cy="12065000"/>
          </a:xfrm>
        </p:grpSpPr>
        <p:sp>
          <p:nvSpPr>
            <p:cNvPr name="Freeform 44" id="44" descr="mock_letter.png"/>
            <p:cNvSpPr/>
            <p:nvPr/>
          </p:nvSpPr>
          <p:spPr>
            <a:xfrm flipH="false" flipV="false" rot="0">
              <a:off x="0" y="0"/>
              <a:ext cx="5909691" cy="12065000"/>
            </a:xfrm>
            <a:custGeom>
              <a:avLst/>
              <a:gdLst/>
              <a:ahLst/>
              <a:cxnLst/>
              <a:rect r="r" b="b" t="t" l="l"/>
              <a:pathLst>
                <a:path h="12065000" w="5909691">
                  <a:moveTo>
                    <a:pt x="0" y="0"/>
                  </a:moveTo>
                  <a:lnTo>
                    <a:pt x="5909691" y="0"/>
                  </a:lnTo>
                  <a:lnTo>
                    <a:pt x="5909691" y="12065000"/>
                  </a:lnTo>
                  <a:lnTo>
                    <a:pt x="0" y="1206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230600" y="7067550"/>
            <a:ext cx="1968570" cy="2762250"/>
            <a:chOff x="0" y="0"/>
            <a:chExt cx="2624760" cy="3683000"/>
          </a:xfrm>
        </p:grpSpPr>
        <p:sp>
          <p:nvSpPr>
            <p:cNvPr name="Freeform 46" id="46" descr="mailbox.png"/>
            <p:cNvSpPr/>
            <p:nvPr/>
          </p:nvSpPr>
          <p:spPr>
            <a:xfrm flipH="false" flipV="false" rot="0">
              <a:off x="0" y="0"/>
              <a:ext cx="2624709" cy="3683000"/>
            </a:xfrm>
            <a:custGeom>
              <a:avLst/>
              <a:gdLst/>
              <a:ahLst/>
              <a:cxnLst/>
              <a:rect r="r" b="b" t="t" l="l"/>
              <a:pathLst>
                <a:path h="3683000" w="2624709">
                  <a:moveTo>
                    <a:pt x="0" y="0"/>
                  </a:moveTo>
                  <a:lnTo>
                    <a:pt x="2624709" y="0"/>
                  </a:lnTo>
                  <a:lnTo>
                    <a:pt x="2624709" y="3683000"/>
                  </a:lnTo>
                  <a:lnTo>
                    <a:pt x="0" y="368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pc="599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REQUIREMENTS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09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1165860"/>
            <a:ext cx="16915943" cy="1666052"/>
            <a:chOff x="0" y="0"/>
            <a:chExt cx="22554590" cy="2221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2221403"/>
            </a:xfrm>
            <a:custGeom>
              <a:avLst/>
              <a:gdLst/>
              <a:ahLst/>
              <a:cxnLst/>
              <a:rect r="r" b="b" t="t" l="l"/>
              <a:pathLst>
                <a:path h="2221403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441" r="0" b="-1472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청년들이 망설이는 이유마다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하나씩 해결책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을 붙였습니다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020" y="3086100"/>
            <a:ext cx="9048750" cy="411480"/>
            <a:chOff x="0" y="0"/>
            <a:chExt cx="120650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65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9052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0650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청년들이 망설이는 이유  →  해결 방향  →  기능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3020" y="3703320"/>
            <a:ext cx="9052560" cy="1097280"/>
            <a:chOff x="0" y="0"/>
            <a:chExt cx="1207008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45920" y="3703320"/>
            <a:ext cx="2468880" cy="1097280"/>
            <a:chOff x="0" y="0"/>
            <a:chExt cx="32918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글로 쓰기 부담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14800" y="3703320"/>
            <a:ext cx="3566160" cy="1097280"/>
            <a:chOff x="0" y="0"/>
            <a:chExt cx="475488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쓰지 않고 골라서 시작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18120" y="3977640"/>
            <a:ext cx="2263140" cy="548640"/>
            <a:chOff x="0" y="0"/>
            <a:chExt cx="3017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818120" y="3977640"/>
            <a:ext cx="2263140" cy="548640"/>
            <a:chOff x="0" y="0"/>
            <a:chExt cx="3017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마음 질문 6문항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3020" y="5006340"/>
            <a:ext cx="9052560" cy="1097280"/>
            <a:chOff x="0" y="0"/>
            <a:chExt cx="1207008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5006340"/>
            <a:ext cx="2468880" cy="1097280"/>
            <a:chOff x="0" y="0"/>
            <a:chExt cx="32918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답장까지 3~4주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14800" y="5006340"/>
            <a:ext cx="3566160" cy="1097280"/>
            <a:chOff x="0" y="0"/>
            <a:chExt cx="47548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기다리지 않고 바로 공감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18120" y="5280660"/>
            <a:ext cx="2263140" cy="548640"/>
            <a:chOff x="0" y="0"/>
            <a:chExt cx="3017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818120" y="5280660"/>
            <a:ext cx="2263140" cy="548640"/>
            <a:chOff x="0" y="0"/>
            <a:chExt cx="3017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닮은 편지 바로 도착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3020" y="6309360"/>
            <a:ext cx="9052560" cy="1097280"/>
            <a:chOff x="0" y="0"/>
            <a:chExt cx="120700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5920" y="6309360"/>
            <a:ext cx="2468880" cy="1097280"/>
            <a:chOff x="0" y="0"/>
            <a:chExt cx="329184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다시 올 이유 없음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14800" y="6309360"/>
            <a:ext cx="3566160" cy="1097280"/>
            <a:chOff x="0" y="0"/>
            <a:chExt cx="475488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매일 가볍게 돌아올 장치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818120" y="6583680"/>
            <a:ext cx="2263140" cy="548640"/>
            <a:chOff x="0" y="0"/>
            <a:chExt cx="3017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818120" y="6583680"/>
            <a:ext cx="2263140" cy="548640"/>
            <a:chOff x="0" y="0"/>
            <a:chExt cx="3017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1일 1미션 · 성장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3020" y="7612380"/>
            <a:ext cx="9052560" cy="1097280"/>
            <a:chOff x="0" y="0"/>
            <a:chExt cx="1207008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70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070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1740896" y="0"/>
                  </a:lnTo>
                  <a:cubicBezTo>
                    <a:pt x="11922760" y="0"/>
                    <a:pt x="12070080" y="147320"/>
                    <a:pt x="12070080" y="329184"/>
                  </a:cubicBezTo>
                  <a:lnTo>
                    <a:pt x="12070080" y="1133856"/>
                  </a:lnTo>
                  <a:cubicBezTo>
                    <a:pt x="12070080" y="1315720"/>
                    <a:pt x="11922761" y="1463040"/>
                    <a:pt x="11740897" y="1463040"/>
                  </a:cubicBezTo>
                  <a:lnTo>
                    <a:pt x="329184" y="1463040"/>
                  </a:lnTo>
                  <a:cubicBezTo>
                    <a:pt x="147320" y="1463040"/>
                    <a:pt x="0" y="1315720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45920" y="7612380"/>
            <a:ext cx="2468880" cy="1097280"/>
            <a:chOff x="0" y="0"/>
            <a:chExt cx="32918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2918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위기 순간의 고립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114800" y="7612380"/>
            <a:ext cx="3566160" cy="1097280"/>
            <a:chOff x="0" y="0"/>
            <a:chExt cx="475488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754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위험 신호는 즉시 전문기관으로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818120" y="7886700"/>
            <a:ext cx="2263140" cy="548640"/>
            <a:chOff x="0" y="0"/>
            <a:chExt cx="30175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18120" y="7886700"/>
            <a:ext cx="2263140" cy="548640"/>
            <a:chOff x="0" y="0"/>
            <a:chExt cx="30175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01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위기 감지 → 109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61320" y="5349240"/>
            <a:ext cx="685800" cy="1097280"/>
            <a:chOff x="0" y="0"/>
            <a:chExt cx="91440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144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452860" y="3086100"/>
            <a:ext cx="5623560" cy="5897880"/>
            <a:chOff x="0" y="0"/>
            <a:chExt cx="7498080" cy="7863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4980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49808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7059168" y="0"/>
                  </a:lnTo>
                  <a:cubicBezTo>
                    <a:pt x="7301612" y="0"/>
                    <a:pt x="7498080" y="196469"/>
                    <a:pt x="7498080" y="438912"/>
                  </a:cubicBezTo>
                  <a:lnTo>
                    <a:pt x="7498080" y="7424928"/>
                  </a:lnTo>
                  <a:cubicBezTo>
                    <a:pt x="7498080" y="7667372"/>
                    <a:pt x="7301612" y="7863840"/>
                    <a:pt x="7059168" y="7863840"/>
                  </a:cubicBezTo>
                  <a:lnTo>
                    <a:pt x="438912" y="7863840"/>
                  </a:lnTo>
                  <a:cubicBezTo>
                    <a:pt x="196469" y="7863840"/>
                    <a:pt x="0" y="7667371"/>
                    <a:pt x="0" y="7424928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452860" y="3429000"/>
            <a:ext cx="5623560" cy="685800"/>
            <a:chOff x="0" y="0"/>
            <a:chExt cx="749808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74980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준비되면 사람의 위로로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452860" y="4114800"/>
            <a:ext cx="5623560" cy="480060"/>
            <a:chOff x="0" y="0"/>
            <a:chExt cx="7498080" cy="6400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98080" cy="640080"/>
            </a:xfrm>
            <a:custGeom>
              <a:avLst/>
              <a:gdLst/>
              <a:ahLst/>
              <a:cxnLst/>
              <a:rect r="r" b="b" t="t" l="l"/>
              <a:pathLst>
                <a:path h="6400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74980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5A4418"/>
                  </a:solidFill>
                  <a:latin typeface="Noto Sans"/>
                  <a:ea typeface="Noto Sans"/>
                  <a:cs typeface="Noto Sans"/>
                  <a:sym typeface="Noto Sans"/>
                </a:rPr>
                <a:t>오목이와 대화하다 마음이 열리면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336946" y="4800600"/>
            <a:ext cx="1855388" cy="2606040"/>
            <a:chOff x="0" y="0"/>
            <a:chExt cx="2213445" cy="3108960"/>
          </a:xfrm>
        </p:grpSpPr>
        <p:sp>
          <p:nvSpPr>
            <p:cNvPr name="Freeform 79" id="79" descr="/home/claude/thumb/ch/sB12.png"/>
            <p:cNvSpPr/>
            <p:nvPr/>
          </p:nvSpPr>
          <p:spPr>
            <a:xfrm flipH="false" flipV="false" rot="0">
              <a:off x="0" y="0"/>
              <a:ext cx="2213483" cy="3108960"/>
            </a:xfrm>
            <a:custGeom>
              <a:avLst/>
              <a:gdLst/>
              <a:ahLst/>
              <a:cxnLst/>
              <a:rect r="r" b="b" t="t" l="l"/>
              <a:pathLst>
                <a:path h="3108960" w="2213483">
                  <a:moveTo>
                    <a:pt x="0" y="0"/>
                  </a:moveTo>
                  <a:lnTo>
                    <a:pt x="2213483" y="0"/>
                  </a:lnTo>
                  <a:lnTo>
                    <a:pt x="2213483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138660" y="7406640"/>
            <a:ext cx="4251960" cy="685800"/>
            <a:chOff x="0" y="0"/>
            <a:chExt cx="566928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5212080" y="0"/>
                  </a:lnTo>
                  <a:cubicBezTo>
                    <a:pt x="5464556" y="0"/>
                    <a:pt x="5669280" y="204724"/>
                    <a:pt x="5669280" y="457200"/>
                  </a:cubicBezTo>
                  <a:cubicBezTo>
                    <a:pt x="5669280" y="709676"/>
                    <a:pt x="5464556" y="914400"/>
                    <a:pt x="521208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F2A2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138660" y="7406640"/>
            <a:ext cx="4251960" cy="685800"/>
            <a:chOff x="0" y="0"/>
            <a:chExt cx="566928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56692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온기우편함에 고민 보내기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9683496"/>
            <a:ext cx="14401800" cy="356616"/>
            <a:chOff x="0" y="0"/>
            <a:chExt cx="19202400" cy="4754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920240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5" r="0" b="-73689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620"/>
                </a:lnSpc>
                <a:spcBef>
                  <a:spcPct val="0"/>
                </a:spcBef>
              </a:pPr>
              <a:r>
                <a:rPr lang="en-US" sz="135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비기능 요구사항: 개인정보 최소 수집(기기에 저장, 개인정보를 묻지 않음) · 모바일 우선 · 오프라인 대응(PWA) · 접근성(터치 영역 44px, 동작 줄이기)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89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 b="tru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59366" y="1784471"/>
            <a:ext cx="1784471" cy="494162"/>
            <a:chOff x="0" y="0"/>
            <a:chExt cx="2379294" cy="658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5가지 탭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2255101"/>
            <a:ext cx="16101451" cy="98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7"/>
              </a:lnSpc>
            </a:pPr>
            <a:r>
              <a:rPr lang="en-US" sz="4803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메인 서비스: 5개 탭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12207" y="4211917"/>
            <a:ext cx="2185787" cy="4312377"/>
            <a:chOff x="0" y="0"/>
            <a:chExt cx="2726411" cy="5378983"/>
          </a:xfrm>
        </p:grpSpPr>
        <p:sp>
          <p:nvSpPr>
            <p:cNvPr name="Freeform 10" id="10" descr="phone-mission.png"/>
            <p:cNvSpPr/>
            <p:nvPr/>
          </p:nvSpPr>
          <p:spPr>
            <a:xfrm flipH="false" flipV="false" rot="0">
              <a:off x="0" y="0"/>
              <a:ext cx="2726436" cy="5378958"/>
            </a:xfrm>
            <a:custGeom>
              <a:avLst/>
              <a:gdLst/>
              <a:ahLst/>
              <a:cxnLst/>
              <a:rect r="r" b="b" t="t" l="l"/>
              <a:pathLst>
                <a:path h="5378958" w="2726436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" r="0" b="-1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48396" y="8583054"/>
            <a:ext cx="2513409" cy="65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미션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1일 1미션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17169" y="4183990"/>
            <a:ext cx="2213738" cy="4367522"/>
            <a:chOff x="0" y="0"/>
            <a:chExt cx="2726411" cy="5378983"/>
          </a:xfrm>
        </p:grpSpPr>
        <p:sp>
          <p:nvSpPr>
            <p:cNvPr name="Freeform 13" id="13" descr="phone-tests.png"/>
            <p:cNvSpPr/>
            <p:nvPr/>
          </p:nvSpPr>
          <p:spPr>
            <a:xfrm flipH="false" flipV="false" rot="0">
              <a:off x="0" y="0"/>
              <a:ext cx="2726436" cy="5378958"/>
            </a:xfrm>
            <a:custGeom>
              <a:avLst/>
              <a:gdLst/>
              <a:ahLst/>
              <a:cxnLst/>
              <a:rect r="r" b="b" t="t" l="l"/>
              <a:pathLst>
                <a:path h="5378958" w="2726436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" r="0" b="-1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467333" y="8599953"/>
            <a:ext cx="2513409" cy="65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심리테스트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공개 척도 3종 · 결과 공유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13942" y="3829755"/>
            <a:ext cx="2473966" cy="4694539"/>
            <a:chOff x="0" y="0"/>
            <a:chExt cx="3298622" cy="6259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8571" cy="6259322"/>
            </a:xfrm>
            <a:custGeom>
              <a:avLst/>
              <a:gdLst/>
              <a:ahLst/>
              <a:cxnLst/>
              <a:rect r="r" b="b" t="t" l="l"/>
              <a:pathLst>
                <a:path h="6259322" w="3298571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lnTo>
                    <a:pt x="2836799" y="0"/>
                  </a:lnTo>
                  <a:cubicBezTo>
                    <a:pt x="3091815" y="0"/>
                    <a:pt x="3298571" y="206756"/>
                    <a:pt x="3298571" y="461772"/>
                  </a:cubicBezTo>
                  <a:lnTo>
                    <a:pt x="3298571" y="5797550"/>
                  </a:lnTo>
                  <a:cubicBezTo>
                    <a:pt x="3298571" y="6052566"/>
                    <a:pt x="3091815" y="6259322"/>
                    <a:pt x="2836799" y="6259322"/>
                  </a:cubicBezTo>
                  <a:lnTo>
                    <a:pt x="461772" y="6259322"/>
                  </a:lnTo>
                  <a:cubicBezTo>
                    <a:pt x="206756" y="6259449"/>
                    <a:pt x="0" y="6052566"/>
                    <a:pt x="0" y="5797550"/>
                  </a:cubicBezTo>
                  <a:close/>
                </a:path>
              </a:pathLst>
            </a:custGeom>
            <a:solidFill>
              <a:srgbClr val="FDF0C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50082" y="3496511"/>
            <a:ext cx="2587837" cy="5105592"/>
            <a:chOff x="0" y="0"/>
            <a:chExt cx="3130321" cy="6175870"/>
          </a:xfrm>
        </p:grpSpPr>
        <p:sp>
          <p:nvSpPr>
            <p:cNvPr name="Freeform 18" id="18" descr="phone-home.png"/>
            <p:cNvSpPr/>
            <p:nvPr/>
          </p:nvSpPr>
          <p:spPr>
            <a:xfrm flipH="false" flipV="false" rot="0">
              <a:off x="0" y="0"/>
              <a:ext cx="3130296" cy="6175883"/>
            </a:xfrm>
            <a:custGeom>
              <a:avLst/>
              <a:gdLst/>
              <a:ahLst/>
              <a:cxnLst/>
              <a:rect r="r" b="b" t="t" l="l"/>
              <a:pathLst>
                <a:path h="6175883" w="3130296">
                  <a:moveTo>
                    <a:pt x="0" y="0"/>
                  </a:moveTo>
                  <a:lnTo>
                    <a:pt x="3130296" y="0"/>
                  </a:lnTo>
                  <a:lnTo>
                    <a:pt x="3130296" y="6175883"/>
                  </a:lnTo>
                  <a:lnTo>
                    <a:pt x="0" y="6175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" r="0" b="-1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756022" y="8599953"/>
            <a:ext cx="2775956" cy="65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홈 (기본 탭)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오늘의 질문 · 오목이와 대화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08795" y="4073700"/>
            <a:ext cx="2297591" cy="4532957"/>
            <a:chOff x="0" y="0"/>
            <a:chExt cx="2726411" cy="5378983"/>
          </a:xfrm>
        </p:grpSpPr>
        <p:sp>
          <p:nvSpPr>
            <p:cNvPr name="Freeform 21" id="21" descr="phone-letters.png"/>
            <p:cNvSpPr/>
            <p:nvPr/>
          </p:nvSpPr>
          <p:spPr>
            <a:xfrm flipH="false" flipV="false" rot="0">
              <a:off x="0" y="0"/>
              <a:ext cx="2726436" cy="5378958"/>
            </a:xfrm>
            <a:custGeom>
              <a:avLst/>
              <a:gdLst/>
              <a:ahLst/>
              <a:cxnLst/>
              <a:rect r="r" b="b" t="t" l="l"/>
              <a:pathLst>
                <a:path h="5378958" w="2726436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" r="0" b="-1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00886" y="8599953"/>
            <a:ext cx="2513409" cy="139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온기레터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실제 고민과 답장 164편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677936" y="4128845"/>
            <a:ext cx="2241689" cy="4422667"/>
            <a:chOff x="0" y="0"/>
            <a:chExt cx="2726411" cy="5378983"/>
          </a:xfrm>
        </p:grpSpPr>
        <p:sp>
          <p:nvSpPr>
            <p:cNvPr name="Freeform 24" id="24" descr="phone-me.png"/>
            <p:cNvSpPr/>
            <p:nvPr/>
          </p:nvSpPr>
          <p:spPr>
            <a:xfrm flipH="false" flipV="false" rot="0">
              <a:off x="0" y="0"/>
              <a:ext cx="2726436" cy="5378958"/>
            </a:xfrm>
            <a:custGeom>
              <a:avLst/>
              <a:gdLst/>
              <a:ahLst/>
              <a:cxnLst/>
              <a:rect r="r" b="b" t="t" l="l"/>
              <a:pathLst>
                <a:path h="5378958" w="2726436">
                  <a:moveTo>
                    <a:pt x="0" y="0"/>
                  </a:moveTo>
                  <a:lnTo>
                    <a:pt x="2726436" y="0"/>
                  </a:lnTo>
                  <a:lnTo>
                    <a:pt x="2726436" y="5378958"/>
                  </a:lnTo>
                  <a:lnTo>
                    <a:pt x="0" y="5378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" r="0" b="-1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542076" y="8599953"/>
            <a:ext cx="2513409" cy="139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나의 온기</a:t>
            </a:r>
          </a:p>
          <a:p>
            <a:pPr algn="ctr">
              <a:lnSpc>
                <a:spcPts val="2594"/>
              </a:lnSpc>
            </a:pPr>
            <a:r>
              <a:rPr lang="en-US" sz="1801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성장 앨범 · 마음 기록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34000" y="976312"/>
            <a:ext cx="7620000" cy="14288"/>
            <a:chOff x="0" y="0"/>
            <a:chExt cx="1016000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60000" cy="19050"/>
            </a:xfrm>
            <a:custGeom>
              <a:avLst/>
              <a:gdLst/>
              <a:ahLst/>
              <a:cxnLst/>
              <a:rect r="r" b="b" t="t" l="l"/>
              <a:pathLst>
                <a:path h="190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791640" y="905961"/>
            <a:ext cx="164725" cy="164725"/>
            <a:chOff x="0" y="0"/>
            <a:chExt cx="219634" cy="2196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331577" y="905961"/>
            <a:ext cx="164725" cy="164725"/>
            <a:chOff x="0" y="0"/>
            <a:chExt cx="219634" cy="2196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71609" y="905961"/>
            <a:ext cx="164725" cy="164725"/>
            <a:chOff x="0" y="0"/>
            <a:chExt cx="219634" cy="2196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48644" y="803015"/>
            <a:ext cx="370618" cy="370618"/>
            <a:chOff x="0" y="0"/>
            <a:chExt cx="494157" cy="4941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4157" cy="494157"/>
            </a:xfrm>
            <a:custGeom>
              <a:avLst/>
              <a:gdLst/>
              <a:ahLst/>
              <a:cxnLst/>
              <a:rect r="r" b="b" t="t" l="l"/>
              <a:pathLst>
                <a:path h="494157" w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921532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38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6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서비스 흐름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61468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00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 b="tru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sp>
        <p:nvSpPr>
          <p:cNvPr name="AutoShape 5" id="5"/>
          <p:cNvSpPr/>
          <p:nvPr/>
        </p:nvSpPr>
        <p:spPr>
          <a:xfrm rot="10740">
            <a:off x="5341487" y="983561"/>
            <a:ext cx="7614742" cy="0"/>
          </a:xfrm>
          <a:prstGeom prst="line">
            <a:avLst/>
          </a:prstGeom>
          <a:ln cap="rnd" w="9525">
            <a:solidFill>
              <a:srgbClr val="E4D9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921532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sz="1651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91640" y="905961"/>
            <a:ext cx="164725" cy="164725"/>
            <a:chOff x="0" y="0"/>
            <a:chExt cx="219634" cy="2196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331577" y="905961"/>
            <a:ext cx="164725" cy="164725"/>
            <a:chOff x="0" y="0"/>
            <a:chExt cx="219634" cy="219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61468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sz="1651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8644" y="803015"/>
            <a:ext cx="370618" cy="370618"/>
            <a:chOff x="0" y="0"/>
            <a:chExt cx="494157" cy="494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4157" cy="494157"/>
            </a:xfrm>
            <a:custGeom>
              <a:avLst/>
              <a:gdLst/>
              <a:ahLst/>
              <a:cxnLst/>
              <a:rect r="r" b="b" t="t" l="l"/>
              <a:pathLst>
                <a:path h="494157" w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381500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b="true" sz="1651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서비스 흐름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66713" y="1797757"/>
            <a:ext cx="2154574" cy="494162"/>
            <a:chOff x="0" y="0"/>
            <a:chExt cx="2872765" cy="6588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2816" cy="658870"/>
            </a:xfrm>
            <a:custGeom>
              <a:avLst/>
              <a:gdLst/>
              <a:ahLst/>
              <a:cxnLst/>
              <a:rect r="r" b="b" t="t" l="l"/>
              <a:pathLst>
                <a:path h="658870" w="2872816">
                  <a:moveTo>
                    <a:pt x="0" y="329435"/>
                  </a:moveTo>
                  <a:cubicBezTo>
                    <a:pt x="0" y="147446"/>
                    <a:pt x="178028" y="0"/>
                    <a:pt x="397764" y="0"/>
                  </a:cubicBezTo>
                  <a:lnTo>
                    <a:pt x="2475063" y="0"/>
                  </a:lnTo>
                  <a:cubicBezTo>
                    <a:pt x="2694799" y="0"/>
                    <a:pt x="2872816" y="147446"/>
                    <a:pt x="2872816" y="329435"/>
                  </a:cubicBezTo>
                  <a:cubicBezTo>
                    <a:pt x="2872816" y="511424"/>
                    <a:pt x="2694799" y="658870"/>
                    <a:pt x="2475063" y="658870"/>
                  </a:cubicBezTo>
                  <a:lnTo>
                    <a:pt x="397764" y="658870"/>
                  </a:lnTo>
                  <a:cubicBezTo>
                    <a:pt x="178028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872765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오목이 성장 장치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8137" y="2255101"/>
            <a:ext cx="16101451" cy="98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7"/>
              </a:lnSpc>
            </a:pPr>
            <a:r>
              <a:rPr lang="en-US" sz="4803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성장과 연결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137" y="3172835"/>
            <a:ext cx="16101451" cy="40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2"/>
              </a:lnSpc>
              <a:spcBef>
                <a:spcPct val="0"/>
              </a:spcBef>
            </a:pPr>
            <a:r>
              <a:rPr lang="en-US" sz="2251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완료한 미션 수에 따라 오목이가 자라고, 대화 중 필요하면 손편지 · 도움 기관으로 안내합니다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7492" y="4220961"/>
            <a:ext cx="8167402" cy="5422059"/>
            <a:chOff x="0" y="0"/>
            <a:chExt cx="10889869" cy="72294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9869" cy="7229349"/>
            </a:xfrm>
            <a:custGeom>
              <a:avLst/>
              <a:gdLst/>
              <a:ahLst/>
              <a:cxnLst/>
              <a:rect r="r" b="b" t="t" l="l"/>
              <a:pathLst>
                <a:path h="7229349" w="10889869">
                  <a:moveTo>
                    <a:pt x="0" y="433705"/>
                  </a:moveTo>
                  <a:cubicBezTo>
                    <a:pt x="0" y="194183"/>
                    <a:pt x="194183" y="0"/>
                    <a:pt x="433705" y="0"/>
                  </a:cubicBezTo>
                  <a:lnTo>
                    <a:pt x="10456164" y="0"/>
                  </a:lnTo>
                  <a:cubicBezTo>
                    <a:pt x="10695686" y="0"/>
                    <a:pt x="10889869" y="194183"/>
                    <a:pt x="10889869" y="433705"/>
                  </a:cubicBezTo>
                  <a:lnTo>
                    <a:pt x="10889869" y="6795643"/>
                  </a:lnTo>
                  <a:cubicBezTo>
                    <a:pt x="10889869" y="7035165"/>
                    <a:pt x="10695686" y="7229349"/>
                    <a:pt x="10456164" y="7229349"/>
                  </a:cubicBezTo>
                  <a:lnTo>
                    <a:pt x="433705" y="7229349"/>
                  </a:lnTo>
                  <a:cubicBezTo>
                    <a:pt x="194183" y="7229348"/>
                    <a:pt x="0" y="7035165"/>
                    <a:pt x="0" y="67956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04039" y="4394511"/>
            <a:ext cx="4118019" cy="61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오목이 성장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65225" y="4486399"/>
            <a:ext cx="2745343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4"/>
              </a:lnSpc>
            </a:pPr>
            <a:r>
              <a:rPr lang="en-US" sz="1801">
                <a:solidFill>
                  <a:srgbClr val="A39D96"/>
                </a:solidFill>
                <a:latin typeface="Arimo"/>
                <a:ea typeface="Arimo"/>
                <a:cs typeface="Arimo"/>
                <a:sym typeface="Arimo"/>
              </a:rPr>
              <a:t>누적 미션 수 기준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4225" y="5490686"/>
            <a:ext cx="1441304" cy="1441304"/>
            <a:chOff x="0" y="0"/>
            <a:chExt cx="1921739" cy="1921739"/>
          </a:xfrm>
        </p:grpSpPr>
        <p:sp>
          <p:nvSpPr>
            <p:cNvPr name="Freeform 25" id="25" descr="stage-1.png"/>
            <p:cNvSpPr/>
            <p:nvPr/>
          </p:nvSpPr>
          <p:spPr>
            <a:xfrm flipH="false" flipV="false" rot="0">
              <a:off x="0" y="0"/>
              <a:ext cx="1921764" cy="1921764"/>
            </a:xfrm>
            <a:custGeom>
              <a:avLst/>
              <a:gdLst/>
              <a:ahLst/>
              <a:cxnLst/>
              <a:rect r="r" b="b" t="t" l="l"/>
              <a:pathLst>
                <a:path h="192176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66774" y="7061692"/>
            <a:ext cx="1496216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6774" y="7515796"/>
            <a:ext cx="1496216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시작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553167" y="6067215"/>
            <a:ext cx="219627" cy="301990"/>
            <a:chOff x="0" y="0"/>
            <a:chExt cx="292837" cy="4026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862" cy="402590"/>
            </a:xfrm>
            <a:custGeom>
              <a:avLst/>
              <a:gdLst/>
              <a:ahLst/>
              <a:cxnLst/>
              <a:rect r="r" b="b" t="t" l="l"/>
              <a:pathLst>
                <a:path h="402590" w="292862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90441" y="5490686"/>
            <a:ext cx="1441304" cy="1441304"/>
            <a:chOff x="0" y="0"/>
            <a:chExt cx="1921739" cy="1921739"/>
          </a:xfrm>
        </p:grpSpPr>
        <p:sp>
          <p:nvSpPr>
            <p:cNvPr name="Freeform 31" id="31" descr="stage-2.png"/>
            <p:cNvSpPr/>
            <p:nvPr/>
          </p:nvSpPr>
          <p:spPr>
            <a:xfrm flipH="false" flipV="false" rot="0">
              <a:off x="0" y="0"/>
              <a:ext cx="1921764" cy="1921764"/>
            </a:xfrm>
            <a:custGeom>
              <a:avLst/>
              <a:gdLst/>
              <a:ahLst/>
              <a:cxnLst/>
              <a:rect r="r" b="b" t="t" l="l"/>
              <a:pathLst>
                <a:path h="192176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662980" y="7061692"/>
            <a:ext cx="1496216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아기새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62980" y="7515796"/>
            <a:ext cx="1496216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</a:t>
            </a: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3개 완료 시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049382" y="6067215"/>
            <a:ext cx="219627" cy="301990"/>
            <a:chOff x="0" y="0"/>
            <a:chExt cx="292837" cy="4026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862" cy="402590"/>
            </a:xfrm>
            <a:custGeom>
              <a:avLst/>
              <a:gdLst/>
              <a:ahLst/>
              <a:cxnLst/>
              <a:rect r="r" b="b" t="t" l="l"/>
              <a:pathLst>
                <a:path h="402590" w="292862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186647" y="5490686"/>
            <a:ext cx="1441304" cy="1441304"/>
            <a:chOff x="0" y="0"/>
            <a:chExt cx="1921739" cy="1921739"/>
          </a:xfrm>
        </p:grpSpPr>
        <p:sp>
          <p:nvSpPr>
            <p:cNvPr name="Freeform 37" id="37" descr="stage-3.png"/>
            <p:cNvSpPr/>
            <p:nvPr/>
          </p:nvSpPr>
          <p:spPr>
            <a:xfrm flipH="false" flipV="false" rot="0">
              <a:off x="0" y="0"/>
              <a:ext cx="1921764" cy="1921764"/>
            </a:xfrm>
            <a:custGeom>
              <a:avLst/>
              <a:gdLst/>
              <a:ahLst/>
              <a:cxnLst/>
              <a:rect r="r" b="b" t="t" l="l"/>
              <a:pathLst>
                <a:path h="192176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4159196" y="7061692"/>
            <a:ext cx="1496216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편지 오목이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545598" y="6067215"/>
            <a:ext cx="219627" cy="301990"/>
            <a:chOff x="0" y="0"/>
            <a:chExt cx="292837" cy="4026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862" cy="402590"/>
            </a:xfrm>
            <a:custGeom>
              <a:avLst/>
              <a:gdLst/>
              <a:ahLst/>
              <a:cxnLst/>
              <a:rect r="r" b="b" t="t" l="l"/>
              <a:pathLst>
                <a:path h="402590" w="292862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682863" y="5490686"/>
            <a:ext cx="1441304" cy="1441304"/>
            <a:chOff x="0" y="0"/>
            <a:chExt cx="1921739" cy="1921739"/>
          </a:xfrm>
        </p:grpSpPr>
        <p:sp>
          <p:nvSpPr>
            <p:cNvPr name="Freeform 42" id="42" descr="stage-4.png"/>
            <p:cNvSpPr/>
            <p:nvPr/>
          </p:nvSpPr>
          <p:spPr>
            <a:xfrm flipH="false" flipV="false" rot="0">
              <a:off x="0" y="0"/>
              <a:ext cx="1921764" cy="1921764"/>
            </a:xfrm>
            <a:custGeom>
              <a:avLst/>
              <a:gdLst/>
              <a:ahLst/>
              <a:cxnLst/>
              <a:rect r="r" b="b" t="t" l="l"/>
              <a:pathLst>
                <a:path h="192176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655412" y="7061692"/>
            <a:ext cx="1496216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우체부 오목이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041813" y="6067215"/>
            <a:ext cx="219627" cy="301990"/>
            <a:chOff x="0" y="0"/>
            <a:chExt cx="292837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862" cy="402590"/>
            </a:xfrm>
            <a:custGeom>
              <a:avLst/>
              <a:gdLst/>
              <a:ahLst/>
              <a:cxnLst/>
              <a:rect r="r" b="b" t="t" l="l"/>
              <a:pathLst>
                <a:path h="402590" w="292862">
                  <a:moveTo>
                    <a:pt x="0" y="0"/>
                  </a:moveTo>
                  <a:lnTo>
                    <a:pt x="146431" y="0"/>
                  </a:lnTo>
                  <a:lnTo>
                    <a:pt x="292862" y="201295"/>
                  </a:lnTo>
                  <a:lnTo>
                    <a:pt x="146431" y="402590"/>
                  </a:lnTo>
                  <a:lnTo>
                    <a:pt x="0" y="402590"/>
                  </a:lnTo>
                  <a:lnTo>
                    <a:pt x="146431" y="201295"/>
                  </a:lnTo>
                  <a:close/>
                </a:path>
              </a:pathLst>
            </a:custGeom>
            <a:solidFill>
              <a:srgbClr val="EBC86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79078" y="5490686"/>
            <a:ext cx="1441304" cy="1441304"/>
            <a:chOff x="0" y="0"/>
            <a:chExt cx="1921739" cy="1921739"/>
          </a:xfrm>
        </p:grpSpPr>
        <p:sp>
          <p:nvSpPr>
            <p:cNvPr name="Freeform 47" id="47" descr="stage-5.png"/>
            <p:cNvSpPr/>
            <p:nvPr/>
          </p:nvSpPr>
          <p:spPr>
            <a:xfrm flipH="false" flipV="false" rot="0">
              <a:off x="0" y="0"/>
              <a:ext cx="1921764" cy="1921764"/>
            </a:xfrm>
            <a:custGeom>
              <a:avLst/>
              <a:gdLst/>
              <a:ahLst/>
              <a:cxnLst/>
              <a:rect r="r" b="b" t="t" l="l"/>
              <a:pathLst>
                <a:path h="192176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921764"/>
                  </a:lnTo>
                  <a:lnTo>
                    <a:pt x="0" y="1921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151627" y="7061692"/>
            <a:ext cx="1496216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76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온기 오목이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40644" y="3849948"/>
            <a:ext cx="2991479" cy="5901938"/>
            <a:chOff x="0" y="0"/>
            <a:chExt cx="3988638" cy="7869250"/>
          </a:xfrm>
        </p:grpSpPr>
        <p:sp>
          <p:nvSpPr>
            <p:cNvPr name="Freeform 50" id="50" descr="phone-chat-talk.png"/>
            <p:cNvSpPr/>
            <p:nvPr/>
          </p:nvSpPr>
          <p:spPr>
            <a:xfrm flipH="false" flipV="false" rot="0">
              <a:off x="0" y="0"/>
              <a:ext cx="3988689" cy="7869301"/>
            </a:xfrm>
            <a:custGeom>
              <a:avLst/>
              <a:gdLst/>
              <a:ahLst/>
              <a:cxnLst/>
              <a:rect r="r" b="b" t="t" l="l"/>
              <a:pathLst>
                <a:path h="7869301" w="3988689">
                  <a:moveTo>
                    <a:pt x="0" y="0"/>
                  </a:moveTo>
                  <a:lnTo>
                    <a:pt x="3988689" y="0"/>
                  </a:lnTo>
                  <a:lnTo>
                    <a:pt x="3988689" y="7869301"/>
                  </a:lnTo>
                  <a:lnTo>
                    <a:pt x="0" y="786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4" r="1" b="-1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59951" y="4049382"/>
            <a:ext cx="4941618" cy="2676716"/>
            <a:chOff x="0" y="0"/>
            <a:chExt cx="6588823" cy="35689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8760" cy="3568954"/>
            </a:xfrm>
            <a:custGeom>
              <a:avLst/>
              <a:gdLst/>
              <a:ahLst/>
              <a:cxnLst/>
              <a:rect r="r" b="b" t="t" l="l"/>
              <a:pathLst>
                <a:path h="3568954" w="6588760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6160516" y="0"/>
                  </a:lnTo>
                  <a:cubicBezTo>
                    <a:pt x="6396990" y="0"/>
                    <a:pt x="6588760" y="191770"/>
                    <a:pt x="6588760" y="428244"/>
                  </a:cubicBezTo>
                  <a:lnTo>
                    <a:pt x="6588760" y="3140710"/>
                  </a:lnTo>
                  <a:cubicBezTo>
                    <a:pt x="6588760" y="3377184"/>
                    <a:pt x="6396990" y="3568954"/>
                    <a:pt x="6160516" y="3568954"/>
                  </a:cubicBezTo>
                  <a:lnTo>
                    <a:pt x="428244" y="3568954"/>
                  </a:lnTo>
                  <a:cubicBezTo>
                    <a:pt x="191770" y="3568954"/>
                    <a:pt x="0" y="3377184"/>
                    <a:pt x="0" y="31407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944304" y="4461186"/>
            <a:ext cx="631431" cy="631431"/>
            <a:chOff x="0" y="0"/>
            <a:chExt cx="841908" cy="8419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FDF0C4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841908" cy="86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8560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863990" y="4394511"/>
            <a:ext cx="3294412" cy="44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손편지로 연결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63990" y="4969907"/>
            <a:ext cx="3294412" cy="75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온기우편함 서비스로 연결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고민에 대한 실제 손편지 받기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559951" y="7000627"/>
            <a:ext cx="4941618" cy="2470814"/>
            <a:chOff x="0" y="0"/>
            <a:chExt cx="6588823" cy="329441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8887" cy="3294380"/>
            </a:xfrm>
            <a:custGeom>
              <a:avLst/>
              <a:gdLst/>
              <a:ahLst/>
              <a:cxnLst/>
              <a:rect r="r" b="b" t="t" l="l"/>
              <a:pathLst>
                <a:path h="3294380" w="6588887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lnTo>
                    <a:pt x="6193536" y="0"/>
                  </a:lnTo>
                  <a:cubicBezTo>
                    <a:pt x="6411849" y="0"/>
                    <a:pt x="6588887" y="177038"/>
                    <a:pt x="6588887" y="395351"/>
                  </a:cubicBezTo>
                  <a:lnTo>
                    <a:pt x="6588887" y="2899029"/>
                  </a:lnTo>
                  <a:cubicBezTo>
                    <a:pt x="6588887" y="3117342"/>
                    <a:pt x="6411849" y="3294380"/>
                    <a:pt x="6193536" y="3294380"/>
                  </a:cubicBezTo>
                  <a:lnTo>
                    <a:pt x="395351" y="3294380"/>
                  </a:lnTo>
                  <a:cubicBezTo>
                    <a:pt x="177038" y="3294380"/>
                    <a:pt x="0" y="3117469"/>
                    <a:pt x="0" y="28990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944304" y="7412431"/>
            <a:ext cx="631431" cy="631431"/>
            <a:chOff x="0" y="0"/>
            <a:chExt cx="841908" cy="8419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FDF0C4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841908" cy="86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8560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863990" y="7345756"/>
            <a:ext cx="3294412" cy="56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551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위기 표현이 보이면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863990" y="7921161"/>
            <a:ext cx="3294412" cy="112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대화 답장 대신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24시간 도움 기관 안내</a:t>
            </a:r>
          </a:p>
          <a:p>
            <a:pPr algn="l">
              <a:lnSpc>
                <a:spcPts val="2927"/>
              </a:lnSpc>
            </a:pPr>
            <a:r>
              <a:rPr lang="en-US" sz="1876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109 · 1577-0199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159196" y="7515796"/>
            <a:ext cx="1496216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7</a:t>
            </a: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개 완료 시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655412" y="7515796"/>
            <a:ext cx="1496216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15</a:t>
            </a: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개 완료 시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151627" y="7515796"/>
            <a:ext cx="1496216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미션 </a:t>
            </a:r>
            <a:r>
              <a:rPr lang="en-US" sz="1425">
                <a:solidFill>
                  <a:srgbClr val="85601E"/>
                </a:solidFill>
                <a:latin typeface="Arimo"/>
                <a:ea typeface="Arimo"/>
                <a:cs typeface="Arimo"/>
                <a:sym typeface="Arimo"/>
              </a:rPr>
              <a:t>30개 완료 시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871609" y="905961"/>
            <a:ext cx="164725" cy="164725"/>
            <a:chOff x="0" y="0"/>
            <a:chExt cx="219634" cy="21963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00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3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4"/>
              </a:lnSpc>
              <a:spcBef>
                <a:spcPct val="0"/>
              </a:spcBef>
            </a:pPr>
            <a:r>
              <a:rPr lang="en-US" b="true" sz="1801" strike="noStrike" u="non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sp>
        <p:nvSpPr>
          <p:cNvPr name="AutoShape 5" id="5"/>
          <p:cNvSpPr/>
          <p:nvPr/>
        </p:nvSpPr>
        <p:spPr>
          <a:xfrm rot="10740">
            <a:off x="5341487" y="983561"/>
            <a:ext cx="7614742" cy="0"/>
          </a:xfrm>
          <a:prstGeom prst="line">
            <a:avLst/>
          </a:prstGeom>
          <a:ln cap="rnd" w="9525">
            <a:solidFill>
              <a:srgbClr val="E4D9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688675" y="803015"/>
            <a:ext cx="370618" cy="370618"/>
            <a:chOff x="0" y="0"/>
            <a:chExt cx="494157" cy="494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157" cy="494157"/>
            </a:xfrm>
            <a:custGeom>
              <a:avLst/>
              <a:gdLst/>
              <a:ahLst/>
              <a:cxnLst/>
              <a:rect r="r" b="b" t="t" l="l"/>
              <a:pathLst>
                <a:path h="494157" w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21532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b="true" sz="1651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사이트맵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51609" y="905961"/>
            <a:ext cx="164725" cy="164725"/>
            <a:chOff x="0" y="0"/>
            <a:chExt cx="219634" cy="219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381500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sz="1651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31577" y="905961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61468" y="1219438"/>
            <a:ext cx="1905000" cy="3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7"/>
              </a:lnSpc>
              <a:spcBef>
                <a:spcPct val="0"/>
              </a:spcBef>
            </a:pPr>
            <a:r>
              <a:rPr lang="en-US" sz="1651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59366" y="1784471"/>
            <a:ext cx="1784471" cy="494162"/>
            <a:chOff x="0" y="0"/>
            <a:chExt cx="2379294" cy="6588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사이트맵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8137" y="2255101"/>
            <a:ext cx="16101451" cy="86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사이트 구조 한눈에 보기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12</a:t>
              </a:r>
            </a:p>
          </p:txBody>
        </p:sp>
      </p:grpSp>
      <p:sp>
        <p:nvSpPr>
          <p:cNvPr name="Freeform 25" id="25" descr="사이트맵: 처음 방문(카카오 로그인, 오목이 이름 짓기, 먼저 도착한 편지) 뒤 하단 5탭(미션, 심리테스트, 홈, 온기레터, 나의 온기)과 바깥 연결"/>
          <p:cNvSpPr/>
          <p:nvPr/>
        </p:nvSpPr>
        <p:spPr>
          <a:xfrm flipH="false" flipV="false" rot="0">
            <a:off x="1238250" y="3257550"/>
            <a:ext cx="15811500" cy="6362700"/>
          </a:xfrm>
          <a:custGeom>
            <a:avLst/>
            <a:gdLst/>
            <a:ahLst/>
            <a:cxnLst/>
            <a:rect r="r" b="b" t="t" l="l"/>
            <a:pathLst>
              <a:path h="6362700" w="15811500">
                <a:moveTo>
                  <a:pt x="0" y="0"/>
                </a:moveTo>
                <a:lnTo>
                  <a:pt x="15811500" y="0"/>
                </a:lnTo>
                <a:lnTo>
                  <a:pt x="15811500" y="6362700"/>
                </a:lnTo>
                <a:lnTo>
                  <a:pt x="0" y="6362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" t="0" r="-144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871609" y="905961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00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51148" y="9710928"/>
            <a:ext cx="822960" cy="342900"/>
            <a:chOff x="0" y="0"/>
            <a:chExt cx="1097280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6000" y="1531096"/>
            <a:ext cx="16915943" cy="1714500"/>
            <a:chOff x="0" y="0"/>
            <a:chExt cx="2255459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54591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247" r="0" b="-1422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554590" cy="2362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name="Freeform 12" id="12" descr="시스템 블록다이어그램: 휴대폰 PWA, Next.js 서버(검증·위기 감지·AI 연결부), 저장 어댑터, 외부 연결"/>
          <p:cNvSpPr/>
          <p:nvPr/>
        </p:nvSpPr>
        <p:spPr>
          <a:xfrm flipH="false" flipV="false" rot="0">
            <a:off x="3359254" y="3350371"/>
            <a:ext cx="11734160" cy="6626730"/>
          </a:xfrm>
          <a:custGeom>
            <a:avLst/>
            <a:gdLst/>
            <a:ahLst/>
            <a:cxnLst/>
            <a:rect r="r" b="b" t="t" l="l"/>
            <a:pathLst>
              <a:path h="6626730" w="11734160">
                <a:moveTo>
                  <a:pt x="0" y="0"/>
                </a:moveTo>
                <a:lnTo>
                  <a:pt x="11734160" y="0"/>
                </a:lnTo>
                <a:lnTo>
                  <a:pt x="11734160" y="6626730"/>
                </a:lnTo>
                <a:lnTo>
                  <a:pt x="0" y="6626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" t="0" r="-8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3608" y="464468"/>
            <a:ext cx="4114800" cy="32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34000" y="976312"/>
            <a:ext cx="7620000" cy="14288"/>
            <a:chOff x="0" y="0"/>
            <a:chExt cx="101600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60000" cy="19050"/>
            </a:xfrm>
            <a:custGeom>
              <a:avLst/>
              <a:gdLst/>
              <a:ahLst/>
              <a:cxnLst/>
              <a:rect r="r" b="b" t="t" l="l"/>
              <a:pathLst>
                <a:path h="190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51609" y="905961"/>
            <a:ext cx="164725" cy="164725"/>
            <a:chOff x="0" y="0"/>
            <a:chExt cx="219634" cy="2196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91640" y="905961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28612" y="803015"/>
            <a:ext cx="370618" cy="370618"/>
            <a:chOff x="0" y="0"/>
            <a:chExt cx="494157" cy="494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4157" cy="494157"/>
            </a:xfrm>
            <a:custGeom>
              <a:avLst/>
              <a:gdLst/>
              <a:ahLst/>
              <a:cxnLst/>
              <a:rect r="r" b="b" t="t" l="l"/>
              <a:pathLst>
                <a:path h="494157" w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71609" y="905961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921532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8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6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61468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시스템 구조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구현 계획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59366" y="1784471"/>
            <a:ext cx="1784471" cy="494162"/>
            <a:chOff x="0" y="0"/>
            <a:chExt cx="2379294" cy="6588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시스템 구조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98137" y="2255101"/>
            <a:ext cx="16101451" cy="86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시스템</a:t>
            </a: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 구조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1600" y="3543300"/>
            <a:ext cx="15544343" cy="1165860"/>
            <a:chOff x="0" y="0"/>
            <a:chExt cx="20725790" cy="155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57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725766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0360005" y="0"/>
                  </a:lnTo>
                  <a:cubicBezTo>
                    <a:pt x="20562063" y="0"/>
                    <a:pt x="20725766" y="163703"/>
                    <a:pt x="20725766" y="365760"/>
                  </a:cubicBezTo>
                  <a:lnTo>
                    <a:pt x="20725766" y="1188720"/>
                  </a:lnTo>
                  <a:cubicBezTo>
                    <a:pt x="20725766" y="1390777"/>
                    <a:pt x="20562063" y="1554480"/>
                    <a:pt x="20360005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83080" y="3543300"/>
            <a:ext cx="14721383" cy="1165860"/>
            <a:chOff x="0" y="0"/>
            <a:chExt cx="1962851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2851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628510">
                  <a:moveTo>
                    <a:pt x="0" y="0"/>
                  </a:moveTo>
                  <a:lnTo>
                    <a:pt x="19628510" y="0"/>
                  </a:lnTo>
                  <a:lnTo>
                    <a:pt x="1962851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38" r="0" b="-1960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962851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Next.js 16 · React 19 · TypeScript · Tailwind CSS v4 · PWA  |  서버: Next.js API  |  테스트: Vitest 290여 개  |  배포: Vercel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28950" y="4781550"/>
            <a:ext cx="568233" cy="685800"/>
            <a:chOff x="0" y="0"/>
            <a:chExt cx="1287996" cy="1554480"/>
          </a:xfrm>
        </p:grpSpPr>
        <p:sp>
          <p:nvSpPr>
            <p:cNvPr name="Freeform 12" id="12" descr="/home/claude/thumb/ch/A07.png"/>
            <p:cNvSpPr/>
            <p:nvPr/>
          </p:nvSpPr>
          <p:spPr>
            <a:xfrm flipH="false" flipV="false" rot="0">
              <a:off x="0" y="0"/>
              <a:ext cx="1288034" cy="1554480"/>
            </a:xfrm>
            <a:custGeom>
              <a:avLst/>
              <a:gdLst/>
              <a:ahLst/>
              <a:cxnLst/>
              <a:rect r="r" b="b" t="t" l="l"/>
              <a:pathLst>
                <a:path h="1554480" w="1288034">
                  <a:moveTo>
                    <a:pt x="0" y="0"/>
                  </a:moveTo>
                  <a:lnTo>
                    <a:pt x="1288034" y="0"/>
                  </a:lnTo>
                  <a:lnTo>
                    <a:pt x="1288034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7904" y="6191250"/>
            <a:ext cx="3593592" cy="548640"/>
            <a:chOff x="0" y="0"/>
            <a:chExt cx="4791456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1단계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17904" y="6743700"/>
            <a:ext cx="3593592" cy="411480"/>
            <a:chOff x="0" y="0"/>
            <a:chExt cx="4791456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1456" cy="548640"/>
            </a:xfrm>
            <a:custGeom>
              <a:avLst/>
              <a:gdLst/>
              <a:ahLst/>
              <a:cxnLst/>
              <a:rect r="r" b="b" t="t" l="l"/>
              <a:pathLst>
                <a:path h="5486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지금 동작하는 v1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55064" y="7258050"/>
            <a:ext cx="3319272" cy="891540"/>
            <a:chOff x="0" y="0"/>
            <a:chExt cx="4425696" cy="1188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시작 화면 · 5탭 · 미션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심리테스트 · 위기 감지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86000" y="8305800"/>
            <a:ext cx="2057400" cy="466344"/>
            <a:chOff x="0" y="0"/>
            <a:chExt cx="274320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86000" y="8305800"/>
            <a:ext cx="2057400" cy="466344"/>
            <a:chOff x="0" y="0"/>
            <a:chExt cx="2743200" cy="621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완료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04104" y="6191250"/>
            <a:ext cx="3593592" cy="548640"/>
            <a:chOff x="0" y="0"/>
            <a:chExt cx="4791456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2단계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04104" y="6743700"/>
            <a:ext cx="3593592" cy="411480"/>
            <a:chOff x="0" y="0"/>
            <a:chExt cx="479145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91456" cy="548640"/>
            </a:xfrm>
            <a:custGeom>
              <a:avLst/>
              <a:gdLst/>
              <a:ahLst/>
              <a:cxnLst/>
              <a:rect r="r" b="b" t="t" l="l"/>
              <a:pathLst>
                <a:path h="5486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AI 대화 연결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41264" y="7258050"/>
            <a:ext cx="3319272" cy="891540"/>
            <a:chOff x="0" y="0"/>
            <a:chExt cx="4425696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Claude API 구현체 추가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말투 프롬프트는 준비 완료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172200" y="8305800"/>
            <a:ext cx="2057400" cy="466344"/>
            <a:chOff x="0" y="0"/>
            <a:chExt cx="2743200" cy="6217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172200" y="8305800"/>
            <a:ext cx="2057400" cy="466344"/>
            <a:chOff x="0" y="0"/>
            <a:chExt cx="2743200" cy="621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예정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90304" y="6191250"/>
            <a:ext cx="3593592" cy="548640"/>
            <a:chOff x="0" y="0"/>
            <a:chExt cx="4791456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3단계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90304" y="6743700"/>
            <a:ext cx="3593592" cy="411480"/>
            <a:chOff x="0" y="0"/>
            <a:chExt cx="4791456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91456" cy="548640"/>
            </a:xfrm>
            <a:custGeom>
              <a:avLst/>
              <a:gdLst/>
              <a:ahLst/>
              <a:cxnLst/>
              <a:rect r="r" b="b" t="t" l="l"/>
              <a:pathLst>
                <a:path h="5486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계정 · 기록 동기화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27464" y="7258050"/>
            <a:ext cx="3319272" cy="891540"/>
            <a:chOff x="0" y="0"/>
            <a:chExt cx="4425696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Supabase 카카오 로그인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기기 저장 → DB 어댑터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0" y="8305800"/>
            <a:ext cx="2057400" cy="466344"/>
            <a:chOff x="0" y="0"/>
            <a:chExt cx="2743200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8400" y="8305800"/>
            <a:ext cx="2057400" cy="466344"/>
            <a:chOff x="0" y="0"/>
            <a:chExt cx="2743200" cy="6217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예정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725650" y="4743450"/>
            <a:ext cx="488257" cy="685800"/>
            <a:chOff x="0" y="0"/>
            <a:chExt cx="1106716" cy="1554480"/>
          </a:xfrm>
        </p:grpSpPr>
        <p:sp>
          <p:nvSpPr>
            <p:cNvPr name="Freeform 56" id="56" descr="/home/claude/thumb/ch/sB12.png"/>
            <p:cNvSpPr/>
            <p:nvPr/>
          </p:nvSpPr>
          <p:spPr>
            <a:xfrm flipH="false" flipV="false" rot="0">
              <a:off x="0" y="0"/>
              <a:ext cx="110667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06678">
                  <a:moveTo>
                    <a:pt x="0" y="0"/>
                  </a:moveTo>
                  <a:lnTo>
                    <a:pt x="1106678" y="0"/>
                  </a:lnTo>
                  <a:lnTo>
                    <a:pt x="11066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176504" y="6191250"/>
            <a:ext cx="3593592" cy="548640"/>
            <a:chOff x="0" y="0"/>
            <a:chExt cx="4791456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4단계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176504" y="6743700"/>
            <a:ext cx="3593592" cy="411480"/>
            <a:chOff x="0" y="0"/>
            <a:chExt cx="479145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91456" cy="548640"/>
            </a:xfrm>
            <a:custGeom>
              <a:avLst/>
              <a:gdLst/>
              <a:ahLst/>
              <a:cxnLst/>
              <a:rect r="r" b="b" t="t" l="l"/>
              <a:pathLst>
                <a:path h="5486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69" r="0" b="-12016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4791456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5A4418"/>
                  </a:solidFill>
                  <a:latin typeface="Noto Sans"/>
                  <a:ea typeface="Noto Sans"/>
                  <a:cs typeface="Noto Sans"/>
                  <a:sym typeface="Noto Sans"/>
                </a:rPr>
                <a:t>배포 · 검증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313664" y="7258050"/>
            <a:ext cx="3319272" cy="891540"/>
            <a:chOff x="0" y="0"/>
            <a:chExt cx="4425696" cy="1188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Vercel 배포 · KPI 기록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온기 시연 → 파일럿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944600" y="8305800"/>
            <a:ext cx="2057400" cy="466344"/>
            <a:chOff x="0" y="0"/>
            <a:chExt cx="2743200" cy="6217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F2A2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944600" y="8305800"/>
            <a:ext cx="2057400" cy="466344"/>
            <a:chOff x="0" y="0"/>
            <a:chExt cx="2743200" cy="621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 strike="noStrike" u="none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목표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823608" y="464468"/>
            <a:ext cx="4114800" cy="32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서비스 소개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5334000" y="976312"/>
            <a:ext cx="7620000" cy="14288"/>
            <a:chOff x="0" y="0"/>
            <a:chExt cx="10160000" cy="190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160000" cy="19050"/>
            </a:xfrm>
            <a:custGeom>
              <a:avLst/>
              <a:gdLst/>
              <a:ahLst/>
              <a:cxnLst/>
              <a:rect r="r" b="b" t="t" l="l"/>
              <a:pathLst>
                <a:path h="190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160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251609" y="905961"/>
            <a:ext cx="164725" cy="164725"/>
            <a:chOff x="0" y="0"/>
            <a:chExt cx="219634" cy="21963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791640" y="905961"/>
            <a:ext cx="164725" cy="164725"/>
            <a:chOff x="0" y="0"/>
            <a:chExt cx="219634" cy="21963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31577" y="905961"/>
            <a:ext cx="164725" cy="164725"/>
            <a:chOff x="0" y="0"/>
            <a:chExt cx="219634" cy="21963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E2A23B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19634" cy="25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768644" y="803015"/>
            <a:ext cx="370618" cy="370618"/>
            <a:chOff x="0" y="0"/>
            <a:chExt cx="494157" cy="49415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4157" cy="494157"/>
            </a:xfrm>
            <a:custGeom>
              <a:avLst/>
              <a:gdLst/>
              <a:ahLst/>
              <a:cxnLst/>
              <a:rect r="r" b="b" t="t" l="l"/>
              <a:pathLst>
                <a:path h="494157" w="494157">
                  <a:moveTo>
                    <a:pt x="0" y="247142"/>
                  </a:moveTo>
                  <a:cubicBezTo>
                    <a:pt x="0" y="110617"/>
                    <a:pt x="110617" y="0"/>
                    <a:pt x="247142" y="0"/>
                  </a:cubicBezTo>
                  <a:cubicBezTo>
                    <a:pt x="383667" y="0"/>
                    <a:pt x="494157" y="110617"/>
                    <a:pt x="494157" y="247142"/>
                  </a:cubicBezTo>
                  <a:cubicBezTo>
                    <a:pt x="494157" y="383667"/>
                    <a:pt x="383540" y="494157"/>
                    <a:pt x="247142" y="494157"/>
                  </a:cubicBezTo>
                  <a:cubicBezTo>
                    <a:pt x="110744" y="494157"/>
                    <a:pt x="0" y="383540"/>
                    <a:pt x="0" y="247142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94157" cy="532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6921532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사이트맵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38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6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전체 서비스 흐름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461468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>
                <a:solidFill>
                  <a:srgbClr val="6B655F"/>
                </a:solidFill>
                <a:latin typeface="Arimo"/>
                <a:ea typeface="Arimo"/>
                <a:cs typeface="Arimo"/>
                <a:sym typeface="Arimo"/>
              </a:rPr>
              <a:t>시스템 구조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001500" y="1219438"/>
            <a:ext cx="1905000" cy="30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650" b="tru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구현 계획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8259366" y="1784471"/>
            <a:ext cx="1784471" cy="494162"/>
            <a:chOff x="0" y="0"/>
            <a:chExt cx="2379294" cy="65888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구현 계획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1098137" y="2255101"/>
            <a:ext cx="16101451" cy="86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AI · 계정 · 배포</a:t>
            </a: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 연결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3314700" y="5686425"/>
            <a:ext cx="11658600" cy="57150"/>
            <a:chOff x="0" y="0"/>
            <a:chExt cx="15544800" cy="76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544800" cy="76200"/>
            </a:xfrm>
            <a:custGeom>
              <a:avLst/>
              <a:gdLst/>
              <a:ahLst/>
              <a:cxnLst/>
              <a:rect r="r" b="b" t="t" l="l"/>
              <a:pathLst>
                <a:path h="76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D9C4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55448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3314700" y="5686425"/>
            <a:ext cx="1943100" cy="57150"/>
            <a:chOff x="0" y="0"/>
            <a:chExt cx="2590800" cy="76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90800" cy="76200"/>
            </a:xfrm>
            <a:custGeom>
              <a:avLst/>
              <a:gdLst/>
              <a:ahLst/>
              <a:cxnLst/>
              <a:rect r="r" b="b" t="t" l="l"/>
              <a:pathLst>
                <a:path h="762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9A12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908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105150" y="5505450"/>
            <a:ext cx="419100" cy="419100"/>
            <a:chOff x="0" y="0"/>
            <a:chExt cx="558800" cy="558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2"/>
                    <a:pt x="125092" y="0"/>
                    <a:pt x="279400" y="0"/>
                  </a:cubicBezTo>
                  <a:cubicBezTo>
                    <a:pt x="433708" y="0"/>
                    <a:pt x="558800" y="125092"/>
                    <a:pt x="558800" y="279400"/>
                  </a:cubicBezTo>
                  <a:cubicBezTo>
                    <a:pt x="558800" y="433708"/>
                    <a:pt x="433708" y="558800"/>
                    <a:pt x="279400" y="558800"/>
                  </a:cubicBezTo>
                  <a:cubicBezTo>
                    <a:pt x="125092" y="558800"/>
                    <a:pt x="0" y="433708"/>
                    <a:pt x="0" y="279400"/>
                  </a:cubicBezTo>
                  <a:close/>
                </a:path>
              </a:pathLst>
            </a:custGeom>
            <a:solidFill>
              <a:srgbClr val="E39A12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029450" y="5543550"/>
            <a:ext cx="342900" cy="342900"/>
            <a:chOff x="0" y="0"/>
            <a:chExt cx="457200" cy="457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39A12"/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915650" y="5543550"/>
            <a:ext cx="342900" cy="342900"/>
            <a:chOff x="0" y="0"/>
            <a:chExt cx="457200" cy="457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39A12"/>
              </a:solidFill>
              <a:prstDash val="solid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706600" y="5448300"/>
            <a:ext cx="533400" cy="533400"/>
            <a:chOff x="0" y="0"/>
            <a:chExt cx="711200" cy="711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355600"/>
                  </a:moveTo>
                  <a:cubicBezTo>
                    <a:pt x="0" y="159208"/>
                    <a:pt x="159208" y="0"/>
                    <a:pt x="355600" y="0"/>
                  </a:cubicBez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lose/>
                </a:path>
              </a:pathLst>
            </a:custGeom>
            <a:solidFill>
              <a:srgbClr val="F5C83A"/>
            </a:solidFill>
            <a:ln w="38100" cap="sq">
              <a:solidFill>
                <a:srgbClr val="2F2A24"/>
              </a:solidFill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pc="599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RESEARCH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1165860"/>
            <a:ext cx="16915943" cy="1666052"/>
            <a:chOff x="0" y="0"/>
            <a:chExt cx="22554590" cy="2221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2221403"/>
            </a:xfrm>
            <a:custGeom>
              <a:avLst/>
              <a:gdLst/>
              <a:ahLst/>
              <a:cxnLst/>
              <a:rect r="r" b="b" t="t" l="l"/>
              <a:pathLst>
                <a:path h="2221403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441" r="0" b="-1472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오목이 · 미션 · 심리테스트는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선행 연구와 검증된 척도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를 설계에 반영했습니다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40180" y="3223260"/>
            <a:ext cx="4594860" cy="2125980"/>
            <a:chOff x="0" y="0"/>
            <a:chExt cx="6126480" cy="2834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6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2648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42235" y="2948940"/>
            <a:ext cx="2190750" cy="493776"/>
            <a:chOff x="0" y="0"/>
            <a:chExt cx="2921000" cy="65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42235" y="2948940"/>
            <a:ext cx="2190750" cy="493776"/>
            <a:chOff x="0" y="0"/>
            <a:chExt cx="2921000" cy="658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7" r="31130" b="-953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UX 선행 사례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3429000"/>
            <a:ext cx="4183380" cy="1783080"/>
            <a:chOff x="0" y="0"/>
            <a:chExt cx="557784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778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t="0" r="-468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썸원: 매일 질문에 답하며</a:t>
              </a:r>
            </a:p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캐릭터를 함께 키움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04438" y="5335524"/>
            <a:ext cx="466344" cy="274320"/>
            <a:chOff x="0" y="0"/>
            <a:chExt cx="621792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" cy="365760"/>
            </a:xfrm>
            <a:custGeom>
              <a:avLst/>
              <a:gdLst/>
              <a:ahLst/>
              <a:cxnLst/>
              <a:rect r="r" b="b" t="t" l="l"/>
              <a:pathLst>
                <a:path h="365760" w="621792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055725" y="5829300"/>
            <a:ext cx="1363761" cy="1645920"/>
            <a:chOff x="0" y="0"/>
            <a:chExt cx="1818348" cy="2194560"/>
          </a:xfrm>
        </p:grpSpPr>
        <p:sp>
          <p:nvSpPr>
            <p:cNvPr name="Freeform 25" id="25" descr="/home/claude/thumb/ch/A07.png"/>
            <p:cNvSpPr/>
            <p:nvPr/>
          </p:nvSpPr>
          <p:spPr>
            <a:xfrm flipH="false" flipV="false" rot="0">
              <a:off x="0" y="0"/>
              <a:ext cx="1818386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18386">
                  <a:moveTo>
                    <a:pt x="0" y="0"/>
                  </a:moveTo>
                  <a:lnTo>
                    <a:pt x="1818386" y="0"/>
                  </a:lnTo>
                  <a:lnTo>
                    <a:pt x="1818386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0180" y="7543800"/>
            <a:ext cx="4594860" cy="685800"/>
            <a:chOff x="0" y="0"/>
            <a:chExt cx="612648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914400"/>
            </a:xfrm>
            <a:custGeom>
              <a:avLst/>
              <a:gdLst/>
              <a:ahLst/>
              <a:cxnLst/>
              <a:rect r="r" b="b" t="t" l="l"/>
              <a:pathLst>
                <a:path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성장 구조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0180" y="8229600"/>
            <a:ext cx="4594860" cy="480060"/>
            <a:chOff x="0" y="0"/>
            <a:chExt cx="612648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26480" cy="640080"/>
            </a:xfrm>
            <a:custGeom>
              <a:avLst/>
              <a:gdLst/>
              <a:ahLst/>
              <a:cxnLst/>
              <a:rect r="r" b="b" t="t" l="l"/>
              <a:pathLst>
                <a:path h="6400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미션 누적으로 자라는 오목이 5단계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0" y="3223260"/>
            <a:ext cx="4594860" cy="2125980"/>
            <a:chOff x="0" y="0"/>
            <a:chExt cx="612648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26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2648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060055" y="2948940"/>
            <a:ext cx="2190750" cy="493776"/>
            <a:chOff x="0" y="0"/>
            <a:chExt cx="2921000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060055" y="2948940"/>
            <a:ext cx="2190750" cy="493776"/>
            <a:chOff x="0" y="0"/>
            <a:chExt cx="292100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7" r="31130" b="-95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앱 이탈 연구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63740" y="3429000"/>
            <a:ext cx="4183380" cy="1783080"/>
            <a:chOff x="0" y="0"/>
            <a:chExt cx="557784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778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t="0" r="-468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정신건강 앱 사용자</a:t>
              </a:r>
            </a:p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대부분 2주 안에 떠남</a:t>
              </a:r>
            </a:p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(Baumel et al., 2019)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22258" y="5335524"/>
            <a:ext cx="466344" cy="274320"/>
            <a:chOff x="0" y="0"/>
            <a:chExt cx="621792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365760"/>
            </a:xfrm>
            <a:custGeom>
              <a:avLst/>
              <a:gdLst/>
              <a:ahLst/>
              <a:cxnLst/>
              <a:rect r="r" b="b" t="t" l="l"/>
              <a:pathLst>
                <a:path h="365760" w="621792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80444" y="5829300"/>
            <a:ext cx="1749971" cy="1645920"/>
            <a:chOff x="0" y="0"/>
            <a:chExt cx="2333295" cy="2194560"/>
          </a:xfrm>
        </p:grpSpPr>
        <p:sp>
          <p:nvSpPr>
            <p:cNvPr name="Freeform 45" id="45" descr="/home/claude/thumb/ch/A13.png"/>
            <p:cNvSpPr/>
            <p:nvPr/>
          </p:nvSpPr>
          <p:spPr>
            <a:xfrm flipH="false" flipV="false" rot="0">
              <a:off x="0" y="0"/>
              <a:ext cx="2333244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33244">
                  <a:moveTo>
                    <a:pt x="0" y="0"/>
                  </a:moveTo>
                  <a:lnTo>
                    <a:pt x="2333244" y="0"/>
                  </a:lnTo>
                  <a:lnTo>
                    <a:pt x="2333244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0" y="7543800"/>
            <a:ext cx="4594860" cy="685800"/>
            <a:chOff x="0" y="0"/>
            <a:chExt cx="612648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26480" cy="914400"/>
            </a:xfrm>
            <a:custGeom>
              <a:avLst/>
              <a:gdLst/>
              <a:ahLst/>
              <a:cxnLst/>
              <a:rect r="r" b="b" t="t" l="l"/>
              <a:pathLst>
                <a:path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초반 성장 보상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58000" y="8229600"/>
            <a:ext cx="4594860" cy="480060"/>
            <a:chOff x="0" y="0"/>
            <a:chExt cx="612648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26480" cy="640080"/>
            </a:xfrm>
            <a:custGeom>
              <a:avLst/>
              <a:gdLst/>
              <a:ahLst/>
              <a:cxnLst/>
              <a:rect r="r" b="b" t="t" l="l"/>
              <a:pathLst>
                <a:path h="6400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75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초반 단계 빠르게 성장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75820" y="3223260"/>
            <a:ext cx="4594860" cy="2125980"/>
            <a:chOff x="0" y="0"/>
            <a:chExt cx="6126480" cy="2834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126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126480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lnTo>
                    <a:pt x="5687568" y="0"/>
                  </a:lnTo>
                  <a:cubicBezTo>
                    <a:pt x="5930011" y="0"/>
                    <a:pt x="6126480" y="196469"/>
                    <a:pt x="6126480" y="438912"/>
                  </a:cubicBezTo>
                  <a:lnTo>
                    <a:pt x="6126480" y="2395728"/>
                  </a:lnTo>
                  <a:cubicBezTo>
                    <a:pt x="6126480" y="2638171"/>
                    <a:pt x="5930011" y="2834640"/>
                    <a:pt x="5687568" y="2834640"/>
                  </a:cubicBezTo>
                  <a:lnTo>
                    <a:pt x="438912" y="2834640"/>
                  </a:lnTo>
                  <a:cubicBezTo>
                    <a:pt x="196469" y="2834640"/>
                    <a:pt x="0" y="2638171"/>
                    <a:pt x="0" y="23957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477875" y="2948940"/>
            <a:ext cx="2190750" cy="493776"/>
            <a:chOff x="0" y="0"/>
            <a:chExt cx="292100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329184"/>
                  </a:moveTo>
                  <a:cubicBezTo>
                    <a:pt x="0" y="147320"/>
                    <a:pt x="213912" y="0"/>
                    <a:pt x="477982" y="0"/>
                  </a:cubicBezTo>
                  <a:lnTo>
                    <a:pt x="2443018" y="0"/>
                  </a:lnTo>
                  <a:cubicBezTo>
                    <a:pt x="2707088" y="0"/>
                    <a:pt x="2921000" y="147320"/>
                    <a:pt x="2921000" y="329184"/>
                  </a:cubicBezTo>
                  <a:cubicBezTo>
                    <a:pt x="2921000" y="511048"/>
                    <a:pt x="2707088" y="658368"/>
                    <a:pt x="2443018" y="658368"/>
                  </a:cubicBezTo>
                  <a:lnTo>
                    <a:pt x="477982" y="658368"/>
                  </a:lnTo>
                  <a:cubicBezTo>
                    <a:pt x="213912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477875" y="2948940"/>
            <a:ext cx="2190750" cy="493776"/>
            <a:chOff x="0" y="0"/>
            <a:chExt cx="292100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100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7" r="31130" b="-95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9210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공개 심리척도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481560" y="3429000"/>
            <a:ext cx="4183380" cy="1783080"/>
            <a:chOff x="0" y="0"/>
            <a:chExt cx="5577840" cy="2377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778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86" t="0" r="-4686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57784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Brief COPE · WHO-5</a:t>
              </a:r>
            </a:p>
            <a:p>
              <a:pPr algn="ctr" marL="0" indent="0" lvl="0">
                <a:lnSpc>
                  <a:spcPts val="2790"/>
                </a:lnSpc>
                <a:spcBef>
                  <a:spcPct val="0"/>
                </a:spcBef>
              </a:pPr>
              <a:r>
                <a:rPr lang="en-US" b="true" sz="2325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로젠버그 자존감 척도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40078" y="5335524"/>
            <a:ext cx="466344" cy="274320"/>
            <a:chOff x="0" y="0"/>
            <a:chExt cx="621792" cy="365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1792" cy="365760"/>
            </a:xfrm>
            <a:custGeom>
              <a:avLst/>
              <a:gdLst/>
              <a:ahLst/>
              <a:cxnLst/>
              <a:rect r="r" b="b" t="t" l="l"/>
              <a:pathLst>
                <a:path h="365760" w="621792">
                  <a:moveTo>
                    <a:pt x="0" y="0"/>
                  </a:moveTo>
                  <a:lnTo>
                    <a:pt x="310896" y="36576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607491" y="5829300"/>
            <a:ext cx="1931518" cy="1645920"/>
            <a:chOff x="0" y="0"/>
            <a:chExt cx="2575357" cy="2194560"/>
          </a:xfrm>
        </p:grpSpPr>
        <p:sp>
          <p:nvSpPr>
            <p:cNvPr name="Freeform 65" id="65" descr="/home/claude/thumb/ch/sB13.png"/>
            <p:cNvSpPr/>
            <p:nvPr/>
          </p:nvSpPr>
          <p:spPr>
            <a:xfrm flipH="false" flipV="false" rot="0">
              <a:off x="0" y="0"/>
              <a:ext cx="2575306" cy="2194560"/>
            </a:xfrm>
            <a:custGeom>
              <a:avLst/>
              <a:gdLst/>
              <a:ahLst/>
              <a:cxnLst/>
              <a:rect r="r" b="b" t="t" l="l"/>
              <a:pathLst>
                <a:path h="2194560" w="2575306">
                  <a:moveTo>
                    <a:pt x="0" y="0"/>
                  </a:moveTo>
                  <a:lnTo>
                    <a:pt x="2575306" y="0"/>
                  </a:lnTo>
                  <a:lnTo>
                    <a:pt x="2575306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275820" y="7543800"/>
            <a:ext cx="4594860" cy="685800"/>
            <a:chOff x="0" y="0"/>
            <a:chExt cx="612648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26480" cy="914400"/>
            </a:xfrm>
            <a:custGeom>
              <a:avLst/>
              <a:gdLst/>
              <a:ahLst/>
              <a:cxnLst/>
              <a:rect r="r" b="b" t="t" l="l"/>
              <a:pathLst>
                <a:path h="91440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61264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심리테스트 3종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75820" y="8229600"/>
            <a:ext cx="4594860" cy="480060"/>
            <a:chOff x="0" y="0"/>
            <a:chExt cx="61264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26480" cy="640080"/>
            </a:xfrm>
            <a:custGeom>
              <a:avLst/>
              <a:gdLst/>
              <a:ahLst/>
              <a:cxnLst/>
              <a:rect r="r" b="b" t="t" l="l"/>
              <a:pathLst>
                <a:path h="6400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12648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라이선스 확인 후 우리말로 옮김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0" y="9217152"/>
            <a:ext cx="18287543" cy="480060"/>
            <a:chOff x="0" y="0"/>
            <a:chExt cx="2438339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3391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268" r="0" b="-6922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438339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7A6A5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게임 요소만으로 효과가 커지지는 않기에(Six et al., 2021), 오목이는 치료 효과가 아닌 재방문과 온기우편함 연결로 검증합니다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725" spc="599" strike="noStrike" u="non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COMPETITION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1165860"/>
            <a:ext cx="16915943" cy="1666052"/>
            <a:chOff x="0" y="0"/>
            <a:chExt cx="22554590" cy="2221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54591" cy="2221403"/>
            </a:xfrm>
            <a:custGeom>
              <a:avLst/>
              <a:gdLst/>
              <a:ahLst/>
              <a:cxnLst/>
              <a:rect r="r" b="b" t="t" l="l"/>
              <a:pathLst>
                <a:path h="2221403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441" r="0" b="-14723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기존 서비스의 종착점은 앱 안,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우리의 종착점은 실제 손편지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입니다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2100" y="3086100"/>
            <a:ext cx="15163800" cy="411480"/>
            <a:chOff x="0" y="0"/>
            <a:chExt cx="20218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1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218400">
                  <a:moveTo>
                    <a:pt x="0" y="0"/>
                  </a:moveTo>
                  <a:lnTo>
                    <a:pt x="20218400" y="0"/>
                  </a:lnTo>
                  <a:lnTo>
                    <a:pt x="2021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45728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0218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각 서비스가 따로 가진 기능을 한곳에 모았습니다   ○ 있음 · △ 일부·유료 · × 없음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683496"/>
            <a:ext cx="14401800" cy="356616"/>
            <a:chOff x="0" y="0"/>
            <a:chExt cx="19202400" cy="475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0240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6895" r="0" b="-7368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920240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출처: 각 서비스 공식 홈페이지·앱 마켓 소개 (2026.10 기준)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62100" y="3619500"/>
            <a:ext cx="15163800" cy="5200650"/>
            <a:chOff x="0" y="0"/>
            <a:chExt cx="20218400" cy="6934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18400" cy="6934200"/>
            </a:xfrm>
            <a:custGeom>
              <a:avLst/>
              <a:gdLst/>
              <a:ahLst/>
              <a:cxnLst/>
              <a:rect r="r" b="b" t="t" l="l"/>
              <a:pathLst>
                <a:path h="6934200" w="20218400">
                  <a:moveTo>
                    <a:pt x="304800" y="0"/>
                  </a:moveTo>
                  <a:lnTo>
                    <a:pt x="19913600" y="0"/>
                  </a:lnTo>
                  <a:cubicBezTo>
                    <a:pt x="20081937" y="0"/>
                    <a:pt x="20218400" y="136464"/>
                    <a:pt x="20218400" y="304800"/>
                  </a:cubicBezTo>
                  <a:lnTo>
                    <a:pt x="20218400" y="6629400"/>
                  </a:lnTo>
                  <a:cubicBezTo>
                    <a:pt x="20218400" y="6797736"/>
                    <a:pt x="20081937" y="6934200"/>
                    <a:pt x="19913600" y="6934200"/>
                  </a:cubicBezTo>
                  <a:lnTo>
                    <a:pt x="304800" y="6934200"/>
                  </a:lnTo>
                  <a:cubicBezTo>
                    <a:pt x="136464" y="6934200"/>
                    <a:pt x="0" y="6797736"/>
                    <a:pt x="0" y="66294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18400" cy="697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607540" y="3619500"/>
            <a:ext cx="2118360" cy="5200650"/>
            <a:chOff x="0" y="0"/>
            <a:chExt cx="2824480" cy="6934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24480" cy="6934200"/>
            </a:xfrm>
            <a:custGeom>
              <a:avLst/>
              <a:gdLst/>
              <a:ahLst/>
              <a:cxnLst/>
              <a:rect r="r" b="b" t="t" l="l"/>
              <a:pathLst>
                <a:path h="6934200" w="2824480">
                  <a:moveTo>
                    <a:pt x="0" y="0"/>
                  </a:moveTo>
                  <a:lnTo>
                    <a:pt x="2519680" y="0"/>
                  </a:lnTo>
                  <a:cubicBezTo>
                    <a:pt x="2688016" y="0"/>
                    <a:pt x="2824480" y="136464"/>
                    <a:pt x="2824480" y="304800"/>
                  </a:cubicBezTo>
                  <a:lnTo>
                    <a:pt x="2824480" y="6629400"/>
                  </a:lnTo>
                  <a:cubicBezTo>
                    <a:pt x="2824480" y="6797736"/>
                    <a:pt x="2688016" y="6934200"/>
                    <a:pt x="2519680" y="6934200"/>
                  </a:cubicBezTo>
                  <a:lnTo>
                    <a:pt x="0" y="6934200"/>
                  </a:lnTo>
                  <a:close/>
                </a:path>
              </a:pathLst>
            </a:custGeom>
            <a:solidFill>
              <a:srgbClr val="FFF4D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824480" cy="697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607540" y="3619500"/>
            <a:ext cx="2118360" cy="666750"/>
            <a:chOff x="0" y="0"/>
            <a:chExt cx="2824480" cy="889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24480" cy="889000"/>
            </a:xfrm>
            <a:custGeom>
              <a:avLst/>
              <a:gdLst/>
              <a:ahLst/>
              <a:cxnLst/>
              <a:rect r="r" b="b" t="t" l="l"/>
              <a:pathLst>
                <a:path h="889000" w="2824480">
                  <a:moveTo>
                    <a:pt x="0" y="0"/>
                  </a:moveTo>
                  <a:lnTo>
                    <a:pt x="2519680" y="0"/>
                  </a:lnTo>
                  <a:cubicBezTo>
                    <a:pt x="2688016" y="0"/>
                    <a:pt x="2824480" y="136464"/>
                    <a:pt x="2824480" y="304800"/>
                  </a:cubicBezTo>
                  <a:lnTo>
                    <a:pt x="282448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F5C83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82448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90700" y="4279106"/>
            <a:ext cx="14706600" cy="14288"/>
            <a:chOff x="0" y="0"/>
            <a:chExt cx="1960880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90700" y="4926806"/>
            <a:ext cx="14706600" cy="14288"/>
            <a:chOff x="0" y="0"/>
            <a:chExt cx="19608800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90700" y="5574506"/>
            <a:ext cx="14706600" cy="14288"/>
            <a:chOff x="0" y="0"/>
            <a:chExt cx="19608800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90700" y="6222206"/>
            <a:ext cx="14706600" cy="14288"/>
            <a:chOff x="0" y="0"/>
            <a:chExt cx="19608800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90700" y="6869906"/>
            <a:ext cx="14706600" cy="14288"/>
            <a:chOff x="0" y="0"/>
            <a:chExt cx="1960880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90700" y="7517606"/>
            <a:ext cx="14706600" cy="14288"/>
            <a:chOff x="0" y="0"/>
            <a:chExt cx="19608800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90700" y="8165306"/>
            <a:ext cx="14706600" cy="14288"/>
            <a:chOff x="0" y="0"/>
            <a:chExt cx="19608800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608800" cy="19050"/>
            </a:xfrm>
            <a:custGeom>
              <a:avLst/>
              <a:gdLst/>
              <a:ahLst/>
              <a:cxnLst/>
              <a:rect r="r" b="b" t="t" l="l"/>
              <a:pathLst>
                <a:path h="19050" w="19608800">
                  <a:moveTo>
                    <a:pt x="0" y="0"/>
                  </a:moveTo>
                  <a:lnTo>
                    <a:pt x="19608800" y="0"/>
                  </a:lnTo>
                  <a:lnTo>
                    <a:pt x="19608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ADFC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6088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134100" y="3752850"/>
            <a:ext cx="211836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온기우편함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52460" y="3752850"/>
            <a:ext cx="211836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마인드카페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70820" y="3752850"/>
            <a:ext cx="211836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트로스트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489180" y="3752850"/>
            <a:ext cx="211836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썸원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07540" y="3752850"/>
            <a:ext cx="211836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On</a:t>
            </a: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 Letter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000" y="44100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쓰지 않고 고르는 마음 질문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134100" y="44196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 직접 작성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252460" y="44196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심리검사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370820" y="44196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심리검사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489180" y="44196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 글로 답함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07540" y="44196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6문항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905000" y="50577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실제 사람이 쓴 손편지 위로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134100" y="50673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3~4주 대기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52460" y="50673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70820" y="50673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89180" y="50673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607540" y="50673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바로 도착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905000" y="57054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캐릭터 성장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134100" y="57150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52460" y="57150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370820" y="57150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489180" y="57150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에그몬 키우기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607540" y="57150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오목이 키우기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905000" y="63531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하루 작은 미션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134100" y="63627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252460" y="63627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370820" y="63627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기록 루틴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489180" y="63627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매일 질문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607540" y="63627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1일 1미션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905000" y="70008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AI 대화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134100" y="70104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252460" y="70104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챗봇 검사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370820" y="70104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 챗봇 티티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489180" y="70104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607540" y="70104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b="true" sz="1575" strike="noStrike" u="non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오목이 대화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905000" y="76485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실제 손편지로 연결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134100" y="76581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252460" y="76581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370820" y="76581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489180" y="76581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CB19F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607540" y="76581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 온기우편함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905000" y="8296275"/>
            <a:ext cx="4191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핵심 기능 무료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134100" y="83058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2F2A24"/>
                </a:solidFill>
                <a:latin typeface="Arimo"/>
                <a:ea typeface="Arimo"/>
                <a:cs typeface="Arimo"/>
                <a:sym typeface="Arimo"/>
              </a:rPr>
              <a:t>○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252460" y="83058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상담 유료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370820" y="83058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상담 유료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489180" y="83058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B97800"/>
                </a:solidFill>
                <a:latin typeface="Arimo"/>
                <a:ea typeface="Arimo"/>
                <a:cs typeface="Arimo"/>
                <a:sym typeface="Arimo"/>
              </a:rPr>
              <a:t>△ 광고·멤버십 유료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607540" y="8305800"/>
            <a:ext cx="21183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 b="true">
                <a:solidFill>
                  <a:srgbClr val="2F2A24"/>
                </a:solidFill>
                <a:latin typeface="Arimo Bold"/>
                <a:ea typeface="Arimo Bold"/>
                <a:cs typeface="Arimo Bold"/>
                <a:sym typeface="Arimo Bold"/>
              </a:rPr>
              <a:t>○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562100" y="8905875"/>
            <a:ext cx="151638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7A6A55"/>
                </a:solidFill>
                <a:latin typeface="Arimo"/>
                <a:ea typeface="Arimo"/>
                <a:cs typeface="Arimo"/>
                <a:sym typeface="Arimo"/>
              </a:rPr>
              <a:t>※ 전문 상담·진단은 하지 않고, 필요할 때 전문기관(109 등)으로 연결합니다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b="true" sz="1725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GOAL &amp; KPI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1165860"/>
            <a:ext cx="16915943" cy="1666052"/>
            <a:chOff x="0" y="0"/>
            <a:chExt cx="22554590" cy="2221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54591" cy="2221403"/>
            </a:xfrm>
            <a:custGeom>
              <a:avLst/>
              <a:gdLst/>
              <a:ahLst/>
              <a:cxnLst/>
              <a:rect r="r" b="b" t="t" l="l"/>
              <a:pathLst>
                <a:path h="2221403" w="22554591">
                  <a:moveTo>
                    <a:pt x="0" y="0"/>
                  </a:moveTo>
                  <a:lnTo>
                    <a:pt x="22554591" y="0"/>
                  </a:lnTo>
                  <a:lnTo>
                    <a:pt x="22554591" y="2221403"/>
                  </a:lnTo>
                  <a:lnTo>
                    <a:pt x="0" y="22214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441" r="0" b="-1472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2554590" cy="2297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목표는 앱 체류가 아닌,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E39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 속 위로와 회복</a:t>
              </a:r>
              <a:r>
                <a:rPr lang="en-US" sz="45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입니다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3086100"/>
            <a:ext cx="15544343" cy="1165860"/>
            <a:chOff x="0" y="0"/>
            <a:chExt cx="2072579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57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725766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0360005" y="0"/>
                  </a:lnTo>
                  <a:cubicBezTo>
                    <a:pt x="20562063" y="0"/>
                    <a:pt x="20725766" y="163703"/>
                    <a:pt x="20725766" y="365760"/>
                  </a:cubicBezTo>
                  <a:lnTo>
                    <a:pt x="20725766" y="1188720"/>
                  </a:lnTo>
                  <a:cubicBezTo>
                    <a:pt x="20725766" y="1390777"/>
                    <a:pt x="20562063" y="1554480"/>
                    <a:pt x="20360005" y="1554480"/>
                  </a:cubicBezTo>
                  <a:lnTo>
                    <a:pt x="365760" y="1554480"/>
                  </a:lnTo>
                  <a:cubicBezTo>
                    <a:pt x="163703" y="1554480"/>
                    <a:pt x="0" y="1390777"/>
                    <a:pt x="0" y="1188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83080" y="3086100"/>
            <a:ext cx="14721383" cy="1165860"/>
            <a:chOff x="0" y="0"/>
            <a:chExt cx="1962851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2851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628510">
                  <a:moveTo>
                    <a:pt x="0" y="0"/>
                  </a:moveTo>
                  <a:lnTo>
                    <a:pt x="19628510" y="0"/>
                  </a:lnTo>
                  <a:lnTo>
                    <a:pt x="1962851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38" r="0" b="-1960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962851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20~34세 청년이 부담 없이 마음을 확인하고, 실제 온기 편지를 반복해 경험한 뒤, 자신의 고민을 손편지로 꺼내도록 연결합니다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4732020"/>
            <a:ext cx="3593592" cy="4251960"/>
            <a:chOff x="0" y="0"/>
            <a:chExt cx="4791456" cy="5669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91456" cy="5669280"/>
            </a:xfrm>
            <a:custGeom>
              <a:avLst/>
              <a:gdLst/>
              <a:ahLst/>
              <a:cxnLst/>
              <a:rect r="r" b="b" t="t" l="l"/>
              <a:pathLst>
                <a:path h="5669280" w="4791456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685393" y="5006340"/>
            <a:ext cx="965997" cy="1165860"/>
            <a:chOff x="0" y="0"/>
            <a:chExt cx="1287996" cy="1554480"/>
          </a:xfrm>
        </p:grpSpPr>
        <p:sp>
          <p:nvSpPr>
            <p:cNvPr name="Freeform 20" id="20" descr="/home/claude/thumb/ch/A07.png"/>
            <p:cNvSpPr/>
            <p:nvPr/>
          </p:nvSpPr>
          <p:spPr>
            <a:xfrm flipH="false" flipV="false" rot="0">
              <a:off x="0" y="0"/>
              <a:ext cx="1288034" cy="1554480"/>
            </a:xfrm>
            <a:custGeom>
              <a:avLst/>
              <a:gdLst/>
              <a:ahLst/>
              <a:cxnLst/>
              <a:rect r="r" b="b" t="t" l="l"/>
              <a:pathLst>
                <a:path h="1554480" w="1288034">
                  <a:moveTo>
                    <a:pt x="0" y="0"/>
                  </a:moveTo>
                  <a:lnTo>
                    <a:pt x="1288034" y="0"/>
                  </a:lnTo>
                  <a:lnTo>
                    <a:pt x="1288034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6309360"/>
            <a:ext cx="3593592" cy="548640"/>
            <a:chOff x="0" y="0"/>
            <a:chExt cx="4791456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유입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6924675"/>
            <a:ext cx="3319272" cy="891540"/>
            <a:chOff x="0" y="0"/>
            <a:chExt cx="4425696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2030 청년들의 유입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39696" y="8325612"/>
            <a:ext cx="2057400" cy="466344"/>
            <a:chOff x="0" y="0"/>
            <a:chExt cx="2743200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6240780"/>
            <a:ext cx="411480" cy="822960"/>
            <a:chOff x="0" y="0"/>
            <a:chExt cx="5486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21808" y="4732020"/>
            <a:ext cx="3593592" cy="4251960"/>
            <a:chOff x="0" y="0"/>
            <a:chExt cx="4791456" cy="5669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1456" cy="5669280"/>
            </a:xfrm>
            <a:custGeom>
              <a:avLst/>
              <a:gdLst/>
              <a:ahLst/>
              <a:cxnLst/>
              <a:rect r="r" b="b" t="t" l="l"/>
              <a:pathLst>
                <a:path h="5669280" w="4791456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98822" y="5006340"/>
            <a:ext cx="1239564" cy="1165860"/>
            <a:chOff x="0" y="0"/>
            <a:chExt cx="1652753" cy="1554480"/>
          </a:xfrm>
        </p:grpSpPr>
        <p:sp>
          <p:nvSpPr>
            <p:cNvPr name="Freeform 35" id="35" descr="/home/claude/thumb/ch/A13.png"/>
            <p:cNvSpPr/>
            <p:nvPr/>
          </p:nvSpPr>
          <p:spPr>
            <a:xfrm flipH="false" flipV="false" rot="0">
              <a:off x="0" y="0"/>
              <a:ext cx="165277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52778">
                  <a:moveTo>
                    <a:pt x="0" y="0"/>
                  </a:moveTo>
                  <a:lnTo>
                    <a:pt x="1652778" y="0"/>
                  </a:lnTo>
                  <a:lnTo>
                    <a:pt x="16527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321808" y="6309360"/>
            <a:ext cx="3593592" cy="548640"/>
            <a:chOff x="0" y="0"/>
            <a:chExt cx="4791456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공감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58968" y="6991350"/>
            <a:ext cx="3319272" cy="891540"/>
            <a:chOff x="0" y="0"/>
            <a:chExt cx="4425696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4425696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 속 고민에 대한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공감 형성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089904" y="8325612"/>
            <a:ext cx="2057400" cy="466344"/>
            <a:chOff x="0" y="0"/>
            <a:chExt cx="274320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89904" y="8325612"/>
            <a:ext cx="2057400" cy="466344"/>
            <a:chOff x="0" y="0"/>
            <a:chExt cx="2743200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편지 열람률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87968" y="6240780"/>
            <a:ext cx="411480" cy="822960"/>
            <a:chOff x="0" y="0"/>
            <a:chExt cx="5486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72016" y="4732020"/>
            <a:ext cx="3593592" cy="4251960"/>
            <a:chOff x="0" y="0"/>
            <a:chExt cx="4791456" cy="5669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91456" cy="5669280"/>
            </a:xfrm>
            <a:custGeom>
              <a:avLst/>
              <a:gdLst/>
              <a:ahLst/>
              <a:cxnLst/>
              <a:rect r="r" b="b" t="t" l="l"/>
              <a:pathLst>
                <a:path h="5669280" w="4791456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510047" y="5006340"/>
            <a:ext cx="1117530" cy="1165860"/>
            <a:chOff x="0" y="0"/>
            <a:chExt cx="1490040" cy="1554480"/>
          </a:xfrm>
        </p:grpSpPr>
        <p:sp>
          <p:nvSpPr>
            <p:cNvPr name="Freeform 53" id="53" descr="/home/claude/thumb/ch/A19.png"/>
            <p:cNvSpPr/>
            <p:nvPr/>
          </p:nvSpPr>
          <p:spPr>
            <a:xfrm flipH="false" flipV="false" rot="0">
              <a:off x="0" y="0"/>
              <a:ext cx="149009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90091">
                  <a:moveTo>
                    <a:pt x="0" y="0"/>
                  </a:moveTo>
                  <a:lnTo>
                    <a:pt x="1490091" y="0"/>
                  </a:lnTo>
                  <a:lnTo>
                    <a:pt x="1490091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272016" y="6309360"/>
            <a:ext cx="3593592" cy="548640"/>
            <a:chOff x="0" y="0"/>
            <a:chExt cx="4791456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재방문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13748" y="6991350"/>
            <a:ext cx="3319272" cy="891540"/>
            <a:chOff x="0" y="0"/>
            <a:chExt cx="4425696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425696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위로 손편지 열람과</a:t>
              </a:r>
            </a:p>
            <a:p>
              <a:pPr algn="ctr">
                <a:lnSpc>
                  <a:spcPts val="2669"/>
                </a:lnSpc>
              </a:pPr>
              <a:r>
                <a:rPr lang="en-US" sz="2224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일일 미션을 위한 재방문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40112" y="8325612"/>
            <a:ext cx="2057400" cy="466344"/>
            <a:chOff x="0" y="0"/>
            <a:chExt cx="2743200" cy="621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1C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40112" y="8325612"/>
            <a:ext cx="2057400" cy="466344"/>
            <a:chOff x="0" y="0"/>
            <a:chExt cx="2743200" cy="621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D7 재방문율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838176" y="6240780"/>
            <a:ext cx="411480" cy="822960"/>
            <a:chOff x="0" y="0"/>
            <a:chExt cx="548640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486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39A12"/>
                  </a:solidFill>
                  <a:latin typeface="Noto Sans"/>
                  <a:ea typeface="Noto Sans"/>
                  <a:cs typeface="Noto Sans"/>
                  <a:sym typeface="Noto Sans"/>
                </a:rPr>
                <a:t>›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222224" y="4732020"/>
            <a:ext cx="3593592" cy="4251960"/>
            <a:chOff x="0" y="0"/>
            <a:chExt cx="4791456" cy="5669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91456" cy="5669280"/>
            </a:xfrm>
            <a:custGeom>
              <a:avLst/>
              <a:gdLst/>
              <a:ahLst/>
              <a:cxnLst/>
              <a:rect r="r" b="b" t="t" l="l"/>
              <a:pathLst>
                <a:path h="5669280" w="4791456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4389120" y="0"/>
                  </a:lnTo>
                  <a:cubicBezTo>
                    <a:pt x="4611370" y="0"/>
                    <a:pt x="4791456" y="180086"/>
                    <a:pt x="4791456" y="402336"/>
                  </a:cubicBezTo>
                  <a:lnTo>
                    <a:pt x="4791456" y="5266944"/>
                  </a:lnTo>
                  <a:cubicBezTo>
                    <a:pt x="4791456" y="5489194"/>
                    <a:pt x="4611370" y="5669280"/>
                    <a:pt x="4389120" y="5669280"/>
                  </a:cubicBezTo>
                  <a:lnTo>
                    <a:pt x="402336" y="5669280"/>
                  </a:lnTo>
                  <a:cubicBezTo>
                    <a:pt x="180086" y="5669280"/>
                    <a:pt x="0" y="5489194"/>
                    <a:pt x="0" y="5266944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603997" y="5006340"/>
            <a:ext cx="830037" cy="1165860"/>
            <a:chOff x="0" y="0"/>
            <a:chExt cx="1106716" cy="1554480"/>
          </a:xfrm>
        </p:grpSpPr>
        <p:sp>
          <p:nvSpPr>
            <p:cNvPr name="Freeform 71" id="71" descr="/home/claude/thumb/ch/sB12.png"/>
            <p:cNvSpPr/>
            <p:nvPr/>
          </p:nvSpPr>
          <p:spPr>
            <a:xfrm flipH="false" flipV="false" rot="0">
              <a:off x="0" y="0"/>
              <a:ext cx="110667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06678">
                  <a:moveTo>
                    <a:pt x="0" y="0"/>
                  </a:moveTo>
                  <a:lnTo>
                    <a:pt x="1106678" y="0"/>
                  </a:lnTo>
                  <a:lnTo>
                    <a:pt x="1106678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222224" y="6309360"/>
            <a:ext cx="3593592" cy="548640"/>
            <a:chOff x="0" y="0"/>
            <a:chExt cx="4791456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91456" cy="731520"/>
            </a:xfrm>
            <a:custGeom>
              <a:avLst/>
              <a:gdLst/>
              <a:ahLst/>
              <a:cxnLst/>
              <a:rect r="r" b="b" t="t" l="l"/>
              <a:pathLst>
                <a:path h="73152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79145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전환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359384" y="6991350"/>
            <a:ext cx="3319272" cy="945705"/>
            <a:chOff x="0" y="0"/>
            <a:chExt cx="4425696" cy="12609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25696" cy="1260940"/>
            </a:xfrm>
            <a:custGeom>
              <a:avLst/>
              <a:gdLst/>
              <a:ahLst/>
              <a:cxnLst/>
              <a:rect r="r" b="b" t="t" l="l"/>
              <a:pathLst>
                <a:path h="126094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260940"/>
                  </a:lnTo>
                  <a:lnTo>
                    <a:pt x="0" y="1260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253" r="0" b="-1552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4425696" cy="127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5606" indent="-207803" lvl="1">
                <a:lnSpc>
                  <a:spcPts val="2309"/>
                </a:lnSpc>
                <a:buFont typeface="Arial"/>
                <a:buChar char="•"/>
              </a:pPr>
              <a:r>
                <a:rPr lang="en-US" b="true" sz="1924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일상 고민 → 위로</a:t>
              </a:r>
            </a:p>
            <a:p>
              <a:pPr algn="l" marL="415606" indent="-207803" lvl="1">
                <a:lnSpc>
                  <a:spcPts val="2309"/>
                </a:lnSpc>
                <a:buFont typeface="Arial"/>
                <a:buChar char="•"/>
              </a:pPr>
              <a:r>
                <a:rPr lang="en-US" b="true" sz="1924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깊은 고민 → 온기우편함</a:t>
              </a:r>
            </a:p>
            <a:p>
              <a:pPr algn="l" marL="415606" indent="-207803" lvl="1">
                <a:lnSpc>
                  <a:spcPts val="2309"/>
                </a:lnSpc>
                <a:buFont typeface="Arial"/>
                <a:buChar char="•"/>
              </a:pPr>
              <a:r>
                <a:rPr lang="en-US" b="true" sz="1924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고위험군 → 전문 상담 센터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990320" y="8325612"/>
            <a:ext cx="2057400" cy="466344"/>
            <a:chOff x="0" y="0"/>
            <a:chExt cx="2743200" cy="6217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2432304" y="0"/>
                  </a:lnTo>
                  <a:cubicBezTo>
                    <a:pt x="2604008" y="0"/>
                    <a:pt x="2743200" y="139192"/>
                    <a:pt x="2743200" y="310896"/>
                  </a:cubicBezTo>
                  <a:cubicBezTo>
                    <a:pt x="2743200" y="482600"/>
                    <a:pt x="2604008" y="621792"/>
                    <a:pt x="2432304" y="621792"/>
                  </a:cubicBezTo>
                  <a:lnTo>
                    <a:pt x="310896" y="621792"/>
                  </a:ln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F2A2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990320" y="8325612"/>
            <a:ext cx="2057400" cy="466344"/>
            <a:chOff x="0" y="0"/>
            <a:chExt cx="2743200" cy="6217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384048"/>
            <a:ext cx="4114800" cy="411480"/>
            <a:chOff x="0" y="0"/>
            <a:chExt cx="54864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486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97800"/>
                  </a:solidFill>
                  <a:latin typeface="Jua"/>
                  <a:ea typeface="Jua"/>
                  <a:cs typeface="Jua"/>
                  <a:sym typeface="Jua"/>
                </a:rPr>
                <a:t>On Letter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990320" y="8325612"/>
            <a:ext cx="2057400" cy="466344"/>
            <a:chOff x="0" y="0"/>
            <a:chExt cx="2743200" cy="621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>
                  <a:solidFill>
                    <a:srgbClr val="F5C8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손편지 전환율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139691" y="8305800"/>
            <a:ext cx="2057400" cy="466344"/>
            <a:chOff x="0" y="0"/>
            <a:chExt cx="2743200" cy="6217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743200" cy="621792"/>
            </a:xfrm>
            <a:custGeom>
              <a:avLst/>
              <a:gdLst/>
              <a:ahLst/>
              <a:cxnLst/>
              <a:rect r="r" b="b" t="t" l="l"/>
              <a:pathLst>
                <a:path h="62179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74320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575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질문 시작률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87749" y="5782743"/>
            <a:ext cx="8288419" cy="822960"/>
            <a:chOff x="0" y="0"/>
            <a:chExt cx="11051225" cy="1097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51225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51225">
                  <a:moveTo>
                    <a:pt x="0" y="0"/>
                  </a:moveTo>
                  <a:lnTo>
                    <a:pt x="11051225" y="0"/>
                  </a:lnTo>
                  <a:lnTo>
                    <a:pt x="11051225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-32387" b="-2098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11051225" cy="1202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꺼내지 못한</a:t>
              </a:r>
              <a:r>
                <a:rPr lang="en-US" sz="4200">
                  <a:solidFill>
                    <a:srgbClr val="4A3520"/>
                  </a:solidFill>
                  <a:latin typeface="Jua"/>
                  <a:ea typeface="Jua"/>
                  <a:cs typeface="Jua"/>
                  <a:sym typeface="Jua"/>
                </a:rPr>
                <a:t> 마음에, 위로가 먼저 닿습니다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3020" y="802386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1316736" y="0"/>
                  </a:lnTo>
                  <a:cubicBezTo>
                    <a:pt x="1599565" y="0"/>
                    <a:pt x="1828800" y="229235"/>
                    <a:pt x="1828800" y="512064"/>
                  </a:cubicBezTo>
                  <a:lnTo>
                    <a:pt x="1828800" y="1316736"/>
                  </a:lnTo>
                  <a:cubicBezTo>
                    <a:pt x="1828800" y="1599565"/>
                    <a:pt x="1599565" y="1828800"/>
                    <a:pt x="1316736" y="1828800"/>
                  </a:cubicBezTo>
                  <a:lnTo>
                    <a:pt x="512064" y="1828800"/>
                  </a:lnTo>
                  <a:cubicBezTo>
                    <a:pt x="229235" y="1828800"/>
                    <a:pt x="0" y="1599565"/>
                    <a:pt x="0" y="1316736"/>
                  </a:cubicBezTo>
                  <a:close/>
                </a:path>
              </a:pathLst>
            </a:custGeom>
            <a:solidFill>
              <a:srgbClr val="F5C8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7612" y="8202168"/>
            <a:ext cx="1076411" cy="1042416"/>
            <a:chOff x="0" y="0"/>
            <a:chExt cx="1435214" cy="1389888"/>
          </a:xfrm>
        </p:grpSpPr>
        <p:sp>
          <p:nvSpPr>
            <p:cNvPr name="Freeform 9" id="9" descr="/home/claude/thumb/ch/A05.png"/>
            <p:cNvSpPr/>
            <p:nvPr/>
          </p:nvSpPr>
          <p:spPr>
            <a:xfrm flipH="false" flipV="false" rot="0">
              <a:off x="0" y="0"/>
              <a:ext cx="1435227" cy="1389888"/>
            </a:xfrm>
            <a:custGeom>
              <a:avLst/>
              <a:gdLst/>
              <a:ahLst/>
              <a:cxnLst/>
              <a:rect r="r" b="b" t="t" l="l"/>
              <a:pathLst>
                <a:path h="1389888" w="1435227">
                  <a:moveTo>
                    <a:pt x="0" y="0"/>
                  </a:moveTo>
                  <a:lnTo>
                    <a:pt x="1435227" y="0"/>
                  </a:lnTo>
                  <a:lnTo>
                    <a:pt x="1435227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48940" y="8161020"/>
            <a:ext cx="5486400" cy="834138"/>
            <a:chOff x="0" y="0"/>
            <a:chExt cx="7315200" cy="1112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1112183"/>
            </a:xfrm>
            <a:custGeom>
              <a:avLst/>
              <a:gdLst/>
              <a:ahLst/>
              <a:cxnLst/>
              <a:rect r="r" b="b" t="t" l="l"/>
              <a:pathLst>
                <a:path h="1112183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12183"/>
                  </a:lnTo>
                  <a:lnTo>
                    <a:pt x="0" y="11121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72" r="0" b="-610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7315200" cy="1102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Team. Warm+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48940" y="8709660"/>
            <a:ext cx="6858000" cy="480060"/>
            <a:chOff x="0" y="0"/>
            <a:chExt cx="91440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91440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6A55"/>
                  </a:solidFill>
                  <a:latin typeface="Noto Sans"/>
                  <a:ea typeface="Noto Sans"/>
                  <a:cs typeface="Noto Sans"/>
                  <a:sym typeface="Noto Sans"/>
                </a:rPr>
                <a:t>카카오 테크포임팩트 × 사단법인 온기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549867" y="1858296"/>
            <a:ext cx="1188266" cy="849610"/>
          </a:xfrm>
          <a:custGeom>
            <a:avLst/>
            <a:gdLst/>
            <a:ahLst/>
            <a:cxnLst/>
            <a:rect r="r" b="b" t="t" l="l"/>
            <a:pathLst>
              <a:path h="849610" w="1188266">
                <a:moveTo>
                  <a:pt x="0" y="0"/>
                </a:moveTo>
                <a:lnTo>
                  <a:pt x="1188266" y="0"/>
                </a:lnTo>
                <a:lnTo>
                  <a:pt x="1188266" y="849610"/>
                </a:lnTo>
                <a:lnTo>
                  <a:pt x="0" y="84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294018" y="2119025"/>
            <a:ext cx="13699964" cy="5200650"/>
            <a:chOff x="0" y="0"/>
            <a:chExt cx="18266619" cy="6934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66618" cy="6934200"/>
            </a:xfrm>
            <a:custGeom>
              <a:avLst/>
              <a:gdLst/>
              <a:ahLst/>
              <a:cxnLst/>
              <a:rect r="r" b="b" t="t" l="l"/>
              <a:pathLst>
                <a:path h="6934200" w="18266618">
                  <a:moveTo>
                    <a:pt x="0" y="0"/>
                  </a:moveTo>
                  <a:lnTo>
                    <a:pt x="18266618" y="0"/>
                  </a:lnTo>
                  <a:lnTo>
                    <a:pt x="18266618" y="6934200"/>
                  </a:lnTo>
                  <a:lnTo>
                    <a:pt x="0" y="693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9894" b="286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8266619" cy="696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>
                  <a:solidFill>
                    <a:srgbClr val="FFF9EA"/>
                  </a:solidFill>
                  <a:latin typeface="Borsok"/>
                  <a:ea typeface="Borsok"/>
                  <a:cs typeface="Borsok"/>
                  <a:sym typeface="Borsok"/>
                </a:rPr>
                <a:t>On</a:t>
              </a:r>
              <a:r>
                <a:rPr lang="en-US" sz="19500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C83A">
                          <a:alpha val="100000"/>
                        </a:srgbClr>
                      </a:gs>
                    </a:gsLst>
                    <a:lin ang="0"/>
                  </a:gradFill>
                  <a:latin typeface="Borsok"/>
                  <a:ea typeface="Borsok"/>
                  <a:cs typeface="Borsok"/>
                  <a:sym typeface="Borsok"/>
                </a:rPr>
                <a:t> </a:t>
              </a:r>
              <a:r>
                <a:rPr lang="en-US" sz="19500">
                  <a:solidFill>
                    <a:srgbClr val="F5C83A"/>
                  </a:solidFill>
                  <a:latin typeface="Borsok"/>
                  <a:ea typeface="Borsok"/>
                  <a:cs typeface="Borsok"/>
                  <a:sym typeface="Borsok"/>
                </a:rPr>
                <a:t>Letter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384048"/>
            <a:ext cx="4114800" cy="384879"/>
            <a:chOff x="0" y="0"/>
            <a:chExt cx="5486400" cy="5131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00" cy="513172"/>
            </a:xfrm>
            <a:custGeom>
              <a:avLst/>
              <a:gdLst/>
              <a:ahLst/>
              <a:cxnLst/>
              <a:rect r="r" b="b" t="t" l="l"/>
              <a:pathLst>
                <a:path h="5131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3172"/>
                  </a:lnTo>
                  <a:lnTo>
                    <a:pt x="0" y="5131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425" r="0" b="-15820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5486400" cy="522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 Letter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8971" y="384048"/>
            <a:ext cx="8229600" cy="411480"/>
            <a:chOff x="0" y="0"/>
            <a:chExt cx="109728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09728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b="true" sz="1725" spc="599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REFERENCE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19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020" y="1303020"/>
            <a:ext cx="10972800" cy="822960"/>
            <a:chOff x="0" y="0"/>
            <a:chExt cx="146304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630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F2A2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 발표에 쓴 자료와 출처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3020" y="2468880"/>
            <a:ext cx="7543800" cy="6720840"/>
            <a:chOff x="0" y="0"/>
            <a:chExt cx="10058400" cy="896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0584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9656064" y="0"/>
                  </a:lnTo>
                  <a:cubicBezTo>
                    <a:pt x="9878314" y="0"/>
                    <a:pt x="10058400" y="180086"/>
                    <a:pt x="10058400" y="402336"/>
                  </a:cubicBezTo>
                  <a:lnTo>
                    <a:pt x="10058400" y="8558784"/>
                  </a:lnTo>
                  <a:cubicBezTo>
                    <a:pt x="10058400" y="8781034"/>
                    <a:pt x="9878314" y="8961120"/>
                    <a:pt x="9656064" y="8961120"/>
                  </a:cubicBezTo>
                  <a:lnTo>
                    <a:pt x="402336" y="8961120"/>
                  </a:lnTo>
                  <a:cubicBezTo>
                    <a:pt x="180086" y="8961120"/>
                    <a:pt x="0" y="8781034"/>
                    <a:pt x="0" y="85587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83080" y="2743200"/>
            <a:ext cx="6583680" cy="548640"/>
            <a:chOff x="0" y="0"/>
            <a:chExt cx="87782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87782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978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국내 통계·연구, 온기 자료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3080" y="3429000"/>
            <a:ext cx="665226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보건복지부·국립정신건강센터 (2024.07). 2024년 국민 정신건강 지식 및 태도 조사 발표 보도자료.</a:t>
            </a:r>
          </a:p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국립정신건강센터 (2024.07). 2024년 국민 정신건강 지식 및 태도 조사 결과보고서.</a:t>
            </a:r>
          </a:p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박지혜, 이선혜 (2022). 청년의 정신건강 도움요청 과정과 의미에 대한 탐색 연구. 보건사회연구, 42(3), 65-94.</a:t>
            </a:r>
          </a:p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한국언론진흥재단 (2025.02). 2024 소셜미디어 이용자 조사 결과 발표.</a:t>
            </a:r>
          </a:p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이옥진 (2026.06). 한 사람도 외롭지 않게… 10년째 손편지로 따뜻한 위로를 배달합니다. 조선일보.</a:t>
            </a:r>
          </a:p>
          <a:p>
            <a:pPr algn="l" marL="257889" indent="-128945" lvl="1">
              <a:lnSpc>
                <a:spcPts val="1709"/>
              </a:lnSpc>
              <a:spcBef>
                <a:spcPct val="0"/>
              </a:spcBef>
              <a:buFont typeface="Arial"/>
              <a:buChar char="•"/>
            </a:pPr>
            <a:r>
              <a:rPr lang="en-US" sz="1425" strike="noStrike" u="none">
                <a:solidFill>
                  <a:srgbClr val="2F2A24"/>
                </a:solidFill>
                <a:latin typeface="Noto Sans"/>
                <a:ea typeface="Noto Sans"/>
                <a:cs typeface="Noto Sans"/>
                <a:sym typeface="Noto Sans"/>
              </a:rPr>
              <a:t>사단법인 온기. 공식 홈페이지 ongibox.co.kr, 온기레터 아카이브 page.stibee.com/archives/195023.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64040" y="2468880"/>
            <a:ext cx="7543800" cy="6930390"/>
            <a:chOff x="0" y="0"/>
            <a:chExt cx="10058400" cy="924052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58400" cy="9240520"/>
              <a:chOff x="0" y="0"/>
              <a:chExt cx="10058400" cy="924052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58400" cy="9240520"/>
              </a:xfrm>
              <a:custGeom>
                <a:avLst/>
                <a:gdLst/>
                <a:ahLst/>
                <a:cxnLst/>
                <a:rect r="r" b="b" t="t" l="l"/>
                <a:pathLst>
                  <a:path h="9240520" w="10058400">
                    <a:moveTo>
                      <a:pt x="0" y="414880"/>
                    </a:moveTo>
                    <a:cubicBezTo>
                      <a:pt x="0" y="185701"/>
                      <a:pt x="180086" y="0"/>
                      <a:pt x="402336" y="0"/>
                    </a:cubicBezTo>
                    <a:lnTo>
                      <a:pt x="9656064" y="0"/>
                    </a:lnTo>
                    <a:cubicBezTo>
                      <a:pt x="9878314" y="0"/>
                      <a:pt x="10058400" y="185701"/>
                      <a:pt x="10058400" y="414880"/>
                    </a:cubicBezTo>
                    <a:lnTo>
                      <a:pt x="10058400" y="8825640"/>
                    </a:lnTo>
                    <a:cubicBezTo>
                      <a:pt x="10058400" y="9054819"/>
                      <a:pt x="9878314" y="9240520"/>
                      <a:pt x="9656064" y="9240520"/>
                    </a:cubicBezTo>
                    <a:lnTo>
                      <a:pt x="402336" y="9240520"/>
                    </a:lnTo>
                    <a:cubicBezTo>
                      <a:pt x="180086" y="9240520"/>
                      <a:pt x="0" y="9054819"/>
                      <a:pt x="0" y="88256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640080" y="365760"/>
              <a:ext cx="8778240" cy="731520"/>
              <a:chOff x="0" y="0"/>
              <a:chExt cx="8778240" cy="73152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7824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778240">
                    <a:moveTo>
                      <a:pt x="0" y="0"/>
                    </a:moveTo>
                    <a:lnTo>
                      <a:pt x="8778240" y="0"/>
                    </a:lnTo>
                    <a:lnTo>
                      <a:pt x="877824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83820" r="0" b="-18382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77824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B978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해외 연구·서비스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40080" y="1280160"/>
              <a:ext cx="8869680" cy="447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Six, S. G. et al. (2021). Examining the effectiveness of gamification in mental health apps for depression. JMIR Mental Health.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Baumel, A. et al. (2019). Objective user engagement with mental health apps. Journal of Medical Internet Research, 21(9).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Kroenke, K. et al. (2003). The Patient Health Questionnaire-2. Medical Care.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Horowitz, L. M. et al. (2020). Validation of the Ask Suicide-Screening Questions. Psychosomatics.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Deady, M. et al. (2022). Preventing depression using a smartphone app: a randomized controlled trial. Psychological Medicine, 52(3).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Carver, C. S. (1997). Brief COPE. International Journal of Behavioral Medicine, 4(1).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Topp, C. W. et al. (2015). The WHO-5 Well-Being Index. Psychotherapy and Psychosomatics, 84(3).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Rosenberg, M. (1965). Society and the Adolescent Self-Image. Princeton University Press.</a:t>
              </a:r>
            </a:p>
            <a:p>
              <a:pPr algn="l" marL="257889" indent="-128945" lvl="1">
                <a:lnSpc>
                  <a:spcPts val="170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25" strike="noStrike" u="none">
                  <a:solidFill>
                    <a:srgbClr val="2F2A24"/>
                  </a:solidFill>
                  <a:latin typeface="Noto Sans"/>
                  <a:ea typeface="Noto Sans"/>
                  <a:cs typeface="Noto Sans"/>
                  <a:sym typeface="Noto Sans"/>
                </a:rPr>
                <a:t>Finch · 마인드카페 · 트로스트 공식 서비스 소개 (2026.9 확인).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1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3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4"/>
              </a:lnSpc>
              <a:spcBef>
                <a:spcPct val="0"/>
              </a:spcBef>
            </a:pPr>
            <a:r>
              <a:rPr lang="en-US" b="true" sz="1801" strike="noStrike" u="non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59366" y="1047750"/>
            <a:ext cx="1784471" cy="494162"/>
            <a:chOff x="0" y="0"/>
            <a:chExt cx="2379294" cy="658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1466850"/>
            <a:ext cx="16101451" cy="86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유스케이스 다이어그램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A1</a:t>
              </a:r>
            </a:p>
          </p:txBody>
        </p:sp>
      </p:grpSp>
      <p:sp>
        <p:nvSpPr>
          <p:cNvPr name="Freeform 15" id="15" descr="유스케이스 다이어그램: 사용자가 할 수 있는 기능과 위기 감지 시 도움 기관 안내"/>
          <p:cNvSpPr/>
          <p:nvPr/>
        </p:nvSpPr>
        <p:spPr>
          <a:xfrm flipH="false" flipV="false" rot="0">
            <a:off x="3230404" y="2714625"/>
            <a:ext cx="11827193" cy="7096125"/>
          </a:xfrm>
          <a:custGeom>
            <a:avLst/>
            <a:gdLst/>
            <a:ahLst/>
            <a:cxnLst/>
            <a:rect r="r" b="b" t="t" l="l"/>
            <a:pathLst>
              <a:path h="7096125" w="11827193">
                <a:moveTo>
                  <a:pt x="0" y="0"/>
                </a:moveTo>
                <a:lnTo>
                  <a:pt x="11827192" y="0"/>
                </a:lnTo>
                <a:lnTo>
                  <a:pt x="11827192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" r="0" b="-1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3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4"/>
              </a:lnSpc>
              <a:spcBef>
                <a:spcPct val="0"/>
              </a:spcBef>
            </a:pPr>
            <a:r>
              <a:rPr lang="en-US" b="true" sz="1801" strike="noStrike" u="non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59366" y="1047750"/>
            <a:ext cx="1784471" cy="494162"/>
            <a:chOff x="0" y="0"/>
            <a:chExt cx="2379294" cy="658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2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1466850"/>
            <a:ext cx="16101451" cy="86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오목이 대화 처리 시퀀스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A2</a:t>
              </a:r>
            </a:p>
          </p:txBody>
        </p:sp>
      </p:grpSp>
      <p:sp>
        <p:nvSpPr>
          <p:cNvPr name="Freeform 15" id="15" descr="오목이 대화 처리 시퀀스 다이어그램: 검증, 위기 감지 분기, LLM 스트리밍, 기기 저장"/>
          <p:cNvSpPr/>
          <p:nvPr/>
        </p:nvSpPr>
        <p:spPr>
          <a:xfrm flipH="false" flipV="false" rot="0">
            <a:off x="3453765" y="2714625"/>
            <a:ext cx="11380470" cy="7096125"/>
          </a:xfrm>
          <a:custGeom>
            <a:avLst/>
            <a:gdLst/>
            <a:ahLst/>
            <a:cxnLst/>
            <a:rect r="r" b="b" t="t" l="l"/>
            <a:pathLst>
              <a:path h="7096125" w="11380470">
                <a:moveTo>
                  <a:pt x="0" y="0"/>
                </a:moveTo>
                <a:lnTo>
                  <a:pt x="11380470" y="0"/>
                </a:lnTo>
                <a:lnTo>
                  <a:pt x="11380470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" t="0" r="-83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3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4"/>
              </a:lnSpc>
              <a:spcBef>
                <a:spcPct val="0"/>
              </a:spcBef>
            </a:pPr>
            <a:r>
              <a:rPr lang="en-US" b="true" sz="1801" strike="noStrike" u="non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59366" y="1047750"/>
            <a:ext cx="1784471" cy="494162"/>
            <a:chOff x="0" y="0"/>
            <a:chExt cx="2379294" cy="658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3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1466850"/>
            <a:ext cx="16101451" cy="86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전체 알고리즘 플로 차트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A3</a:t>
              </a:r>
            </a:p>
          </p:txBody>
        </p:sp>
      </p:grpSp>
      <p:sp>
        <p:nvSpPr>
          <p:cNvPr name="Freeform 15" id="15" descr="전체 알고리즘 플로 차트: 첫 방문부터 먼저 도착한 편지, 5탭, 대화·위기 감지, 온기우편함 연결까지"/>
          <p:cNvSpPr/>
          <p:nvPr/>
        </p:nvSpPr>
        <p:spPr>
          <a:xfrm flipH="false" flipV="false" rot="0">
            <a:off x="4279582" y="2714625"/>
            <a:ext cx="9728835" cy="7096125"/>
          </a:xfrm>
          <a:custGeom>
            <a:avLst/>
            <a:gdLst/>
            <a:ahLst/>
            <a:cxnLst/>
            <a:rect r="r" b="b" t="t" l="l"/>
            <a:pathLst>
              <a:path h="7096125" w="9728835">
                <a:moveTo>
                  <a:pt x="0" y="0"/>
                </a:moveTo>
                <a:lnTo>
                  <a:pt x="9728836" y="0"/>
                </a:lnTo>
                <a:lnTo>
                  <a:pt x="9728836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" t="0" r="-43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backgroun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3608" y="464468"/>
            <a:ext cx="4118019" cy="3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4"/>
              </a:lnSpc>
              <a:spcBef>
                <a:spcPct val="0"/>
              </a:spcBef>
            </a:pPr>
            <a:r>
              <a:rPr lang="en-US" b="true" sz="1801" strike="noStrike" u="none">
                <a:solidFill>
                  <a:srgbClr val="85601E"/>
                </a:solidFill>
                <a:latin typeface="Arimo Bold"/>
                <a:ea typeface="Arimo Bold"/>
                <a:cs typeface="Arimo Bold"/>
                <a:sym typeface="Arimo Bold"/>
              </a:rPr>
              <a:t>부록 · 질의응답용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59366" y="1047750"/>
            <a:ext cx="1784471" cy="494162"/>
            <a:chOff x="0" y="0"/>
            <a:chExt cx="2379294" cy="658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9345" cy="658870"/>
            </a:xfrm>
            <a:custGeom>
              <a:avLst/>
              <a:gdLst/>
              <a:ahLst/>
              <a:cxnLst/>
              <a:rect r="r" b="b" t="t" l="l"/>
              <a:pathLst>
                <a:path h="658870" w="2379345">
                  <a:moveTo>
                    <a:pt x="0" y="329435"/>
                  </a:moveTo>
                  <a:cubicBezTo>
                    <a:pt x="0" y="147446"/>
                    <a:pt x="147447" y="0"/>
                    <a:pt x="329438" y="0"/>
                  </a:cubicBezTo>
                  <a:lnTo>
                    <a:pt x="2049907" y="0"/>
                  </a:lnTo>
                  <a:cubicBezTo>
                    <a:pt x="2231898" y="0"/>
                    <a:pt x="2379345" y="147446"/>
                    <a:pt x="2379345" y="329435"/>
                  </a:cubicBezTo>
                  <a:cubicBezTo>
                    <a:pt x="2379345" y="511424"/>
                    <a:pt x="2231898" y="658870"/>
                    <a:pt x="2049907" y="658870"/>
                  </a:cubicBezTo>
                  <a:lnTo>
                    <a:pt x="329438" y="658870"/>
                  </a:lnTo>
                  <a:cubicBezTo>
                    <a:pt x="147447" y="658870"/>
                    <a:pt x="0" y="511424"/>
                    <a:pt x="0" y="329435"/>
                  </a:cubicBezTo>
                  <a:close/>
                </a:path>
              </a:pathLst>
            </a:custGeom>
            <a:solidFill>
              <a:srgbClr val="F7D7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379294" cy="67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2F2B2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부록 4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8137" y="1466850"/>
            <a:ext cx="16101451" cy="86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7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2F2B28"/>
                </a:solidFill>
                <a:latin typeface="Arimo Bold"/>
                <a:ea typeface="Arimo Bold"/>
                <a:cs typeface="Arimo Bold"/>
                <a:sym typeface="Arimo Bold"/>
              </a:rPr>
              <a:t>추진 일정 · 역할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18663" y="411480"/>
            <a:ext cx="1645920" cy="384048"/>
            <a:chOff x="0" y="0"/>
            <a:chExt cx="2194560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BCB19F"/>
                  </a:solidFill>
                  <a:latin typeface="Noto Sans"/>
                  <a:ea typeface="Noto Sans"/>
                  <a:cs typeface="Noto Sans"/>
                  <a:sym typeface="Noto Sans"/>
                </a:rPr>
                <a:t>Team. Warm+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41623" y="9710928"/>
            <a:ext cx="822960" cy="342900"/>
            <a:chOff x="0" y="0"/>
            <a:chExt cx="109728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972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1709"/>
                </a:lnSpc>
                <a:spcBef>
                  <a:spcPct val="0"/>
                </a:spcBef>
              </a:pPr>
              <a:r>
                <a:rPr lang="en-US" sz="1425" strike="noStrike" u="none">
                  <a:solidFill>
                    <a:srgbClr val="A0927C"/>
                  </a:solidFill>
                  <a:latin typeface="Noto Sans"/>
                  <a:ea typeface="Noto Sans"/>
                  <a:cs typeface="Noto Sans"/>
                  <a:sym typeface="Noto Sans"/>
                </a:rPr>
                <a:t>A4</a:t>
              </a:r>
            </a:p>
          </p:txBody>
        </p:sp>
      </p:grpSp>
      <p:sp>
        <p:nvSpPr>
          <p:cNvPr name="Freeform 15" id="15" descr="추진일정 간트차트: 9월 기획부터 12월 최종 발표까지 세부 작업 일정"/>
          <p:cNvSpPr/>
          <p:nvPr/>
        </p:nvSpPr>
        <p:spPr>
          <a:xfrm flipH="false" flipV="false" rot="0">
            <a:off x="1095375" y="2762250"/>
            <a:ext cx="16097250" cy="7052310"/>
          </a:xfrm>
          <a:custGeom>
            <a:avLst/>
            <a:gdLst/>
            <a:ahLst/>
            <a:cxnLst/>
            <a:rect r="r" b="b" t="t" l="l"/>
            <a:pathLst>
              <a:path h="7052310" w="16097250">
                <a:moveTo>
                  <a:pt x="0" y="0"/>
                </a:moveTo>
                <a:lnTo>
                  <a:pt x="16097250" y="0"/>
                </a:lnTo>
                <a:lnTo>
                  <a:pt x="16097250" y="7052310"/>
                </a:lnTo>
                <a:lnTo>
                  <a:pt x="0" y="70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" t="0" r="-6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DAHWgJjEnYE</dc:identifier>
  <dcterms:modified xsi:type="dcterms:W3CDTF">2011-08-01T06:04:30Z</dcterms:modified>
  <cp:revision>1</cp:revision>
  <dc:title>온기_v3.pptx</dc:title>
</cp:coreProperties>
</file>